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64" r:id="rId4"/>
    <p:sldId id="265" r:id="rId5"/>
    <p:sldId id="260" r:id="rId6"/>
    <p:sldId id="261" r:id="rId7"/>
    <p:sldId id="262" r:id="rId8"/>
    <p:sldId id="263" r:id="rId9"/>
    <p:sldId id="271" r:id="rId10"/>
    <p:sldId id="272" r:id="rId11"/>
    <p:sldId id="267" r:id="rId12"/>
    <p:sldId id="269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BDF8"/>
    <a:srgbClr val="33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85" autoAdjust="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9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png"/><Relationship Id="rId7" Type="http://schemas.openxmlformats.org/officeDocument/2006/relationships/image" Target="../media/image2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13" Type="http://schemas.openxmlformats.org/officeDocument/2006/relationships/image" Target="../media/image39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12" Type="http://schemas.openxmlformats.org/officeDocument/2006/relationships/image" Target="../media/image3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Relationship Id="rId14" Type="http://schemas.openxmlformats.org/officeDocument/2006/relationships/image" Target="../media/image4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7" Type="http://schemas.openxmlformats.org/officeDocument/2006/relationships/image" Target="../media/image4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473920"/>
            <a:ext cx="2650331" cy="24142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231" y="3473920"/>
            <a:ext cx="2650331" cy="241426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7437" y="3473920"/>
            <a:ext cx="2650331" cy="241426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60643" y="3473920"/>
            <a:ext cx="2650331" cy="24142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536156" y="1237803"/>
            <a:ext cx="5281612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0" i="0" u="none" dirty="0">
                <a:solidFill>
                  <a:srgbClr val="FFFFFF"/>
                </a:solidFill>
                <a:latin typeface="Fira Code SemiBold"/>
              </a:rPr>
              <a:t>CSE 115 | Section </a:t>
            </a:r>
            <a:r>
              <a:rPr sz="1400" b="0" i="0" u="none" dirty="0" smtClean="0">
                <a:solidFill>
                  <a:srgbClr val="FFFFFF"/>
                </a:solidFill>
                <a:latin typeface="Fira Code SemiBold"/>
              </a:rPr>
              <a:t>0</a:t>
            </a:r>
            <a:r>
              <a:rPr lang="en-US" sz="1400" b="0" i="0" u="none" dirty="0" smtClean="0">
                <a:solidFill>
                  <a:srgbClr val="FFFFFF"/>
                </a:solidFill>
                <a:latin typeface="Fira Code SemiBold"/>
              </a:rPr>
              <a:t>3</a:t>
            </a:r>
            <a:r>
              <a:rPr sz="1400" b="0" i="0" u="none" dirty="0" smtClean="0">
                <a:solidFill>
                  <a:srgbClr val="FFFFFF"/>
                </a:solidFill>
                <a:latin typeface="Fira Code SemiBold"/>
              </a:rPr>
              <a:t> </a:t>
            </a:r>
            <a:r>
              <a:rPr sz="1400" b="0" i="0" u="none" dirty="0">
                <a:solidFill>
                  <a:srgbClr val="FFFFFF"/>
                </a:solidFill>
                <a:latin typeface="Fira Code SemiBold"/>
              </a:rPr>
              <a:t>| Group </a:t>
            </a:r>
            <a:r>
              <a:rPr lang="en-US" sz="1400" dirty="0" smtClean="0">
                <a:solidFill>
                  <a:srgbClr val="FFFFFF"/>
                </a:solidFill>
                <a:latin typeface="Fira Code SemiBold"/>
              </a:rPr>
              <a:t>09</a:t>
            </a:r>
            <a:endParaRPr sz="1400" b="0" i="0" u="none" dirty="0">
              <a:solidFill>
                <a:srgbClr val="FFFFFF"/>
              </a:solidFill>
              <a:latin typeface="Fira Code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075497" y="2190303"/>
            <a:ext cx="8041005" cy="586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20"/>
              </a:lnSpc>
            </a:pPr>
            <a:r>
              <a:rPr sz="4200" b="1" i="0" u="none">
                <a:solidFill>
                  <a:srgbClr val="F8FAFC"/>
                </a:solidFill>
                <a:latin typeface="Inter"/>
              </a:rPr>
              <a:t>SCIENTIFIC CALCULATOR IN 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6062" y="2919858"/>
            <a:ext cx="6619875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Inter"/>
              </a:rPr>
              <a:t>A Modular Command-Line Computing Engine for Advanced Mathematics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4777233"/>
            <a:ext cx="8326582" cy="192360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462"/>
              </a:lnSpc>
            </a:pPr>
            <a:endParaRPr lang="en-US" sz="975" b="0" i="0" u="none" dirty="0" smtClean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dirty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b="0" i="0" u="none" dirty="0" smtClean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dirty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b="0" i="0" u="none" dirty="0" smtClean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dirty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b="0" i="0" u="none" dirty="0" smtClean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dirty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endParaRPr lang="en-US" sz="975" b="0" i="0" u="none" dirty="0" smtClean="0">
              <a:solidFill>
                <a:srgbClr val="64748B"/>
              </a:solidFill>
              <a:latin typeface="Fira Code"/>
            </a:endParaRPr>
          </a:p>
          <a:p>
            <a:pPr algn="ctr">
              <a:lnSpc>
                <a:spcPts val="1462"/>
              </a:lnSpc>
            </a:pPr>
            <a:r>
              <a:rPr sz="1400" b="0" i="0" u="none" dirty="0" smtClean="0">
                <a:solidFill>
                  <a:srgbClr val="64748B"/>
                </a:solidFill>
                <a:latin typeface="Fira Code"/>
              </a:rPr>
              <a:t>Department </a:t>
            </a:r>
            <a:r>
              <a:rPr sz="1400" b="0" i="0" u="none" dirty="0">
                <a:solidFill>
                  <a:srgbClr val="64748B"/>
                </a:solidFill>
                <a:latin typeface="Fira Code"/>
              </a:rPr>
              <a:t>of </a:t>
            </a:r>
            <a:r>
              <a:rPr sz="1400" b="0" i="0" u="none" dirty="0" smtClean="0">
                <a:solidFill>
                  <a:srgbClr val="64748B"/>
                </a:solidFill>
                <a:latin typeface="Fira Code"/>
              </a:rPr>
              <a:t>Electrical </a:t>
            </a:r>
            <a:r>
              <a:rPr sz="1400" b="0" i="0" u="none" dirty="0">
                <a:solidFill>
                  <a:srgbClr val="64748B"/>
                </a:solidFill>
                <a:latin typeface="Fira Code"/>
              </a:rPr>
              <a:t>&amp; Computer Engineering | North South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09" y="3877121"/>
            <a:ext cx="2326481" cy="654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3000" b="1" i="0" u="none" dirty="0" smtClean="0">
                <a:solidFill>
                  <a:srgbClr val="38BDF8"/>
                </a:solidFill>
                <a:latin typeface="Inter"/>
              </a:rPr>
              <a:t>Prithu</a:t>
            </a:r>
            <a:endParaRPr lang="en-US" sz="3000" b="1" i="0" u="none" dirty="0" smtClean="0">
              <a:solidFill>
                <a:srgbClr val="38BDF8"/>
              </a:solidFill>
              <a:latin typeface="Inter"/>
            </a:endParaRPr>
          </a:p>
          <a:p>
            <a:pPr algn="l">
              <a:lnSpc>
                <a:spcPts val="1687"/>
              </a:lnSpc>
            </a:pPr>
            <a:endParaRPr lang="en-US" sz="3000" b="1" dirty="0">
              <a:solidFill>
                <a:srgbClr val="38BDF8"/>
              </a:solidFill>
              <a:latin typeface="Inter"/>
            </a:endParaRPr>
          </a:p>
          <a:p>
            <a:pPr algn="l">
              <a:lnSpc>
                <a:spcPts val="1687"/>
              </a:lnSpc>
            </a:pPr>
            <a:endParaRPr sz="3000" b="1" i="0" u="none" dirty="0">
              <a:solidFill>
                <a:srgbClr val="38BDF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2950" y="4143821"/>
            <a:ext cx="2326481" cy="13465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Power</a:t>
            </a: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-</a:t>
            </a: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Root </a:t>
            </a: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Matrix </a:t>
            </a:r>
            <a:endParaRPr lang="en-US" sz="2000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Vector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36156" y="3891408"/>
            <a:ext cx="2326481" cy="25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3000" b="1" i="0" u="none" dirty="0">
                <a:solidFill>
                  <a:srgbClr val="38BDF8"/>
                </a:solidFill>
                <a:latin typeface="Inter"/>
              </a:rPr>
              <a:t>Tahmid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6156" y="4143821"/>
            <a:ext cx="2326481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Arithmetic</a:t>
            </a: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 Log</a:t>
            </a: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Base </a:t>
            </a: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Conversion</a:t>
            </a:r>
          </a:p>
          <a:p>
            <a:pPr algn="l">
              <a:lnSpc>
                <a:spcPts val="1462"/>
              </a:lnSpc>
            </a:pP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329362" y="3891408"/>
            <a:ext cx="2326481" cy="25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3000" b="1" i="0" u="none" dirty="0">
                <a:solidFill>
                  <a:srgbClr val="38BDF8"/>
                </a:solidFill>
                <a:latin typeface="Inter"/>
              </a:rPr>
              <a:t>Rumi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29362" y="4143821"/>
            <a:ext cx="2326481" cy="96180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T</a:t>
            </a: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rig</a:t>
            </a: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o</a:t>
            </a: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nometry</a:t>
            </a: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Unit Conv</a:t>
            </a: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ersion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122568" y="3891408"/>
            <a:ext cx="2326481" cy="25103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3000" b="1" i="0" u="none" dirty="0">
                <a:solidFill>
                  <a:srgbClr val="38BDF8"/>
                </a:solidFill>
                <a:latin typeface="Inter"/>
              </a:rPr>
              <a:t>Arif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2568" y="4143821"/>
            <a:ext cx="2326481" cy="15388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US" sz="2000" dirty="0" smtClean="0">
                <a:solidFill>
                  <a:srgbClr val="94A3B8"/>
                </a:solidFill>
                <a:latin typeface="Inter"/>
              </a:rPr>
              <a:t>Factorial</a:t>
            </a:r>
          </a:p>
          <a:p>
            <a:pPr algn="l">
              <a:lnSpc>
                <a:spcPts val="1462"/>
              </a:lnSpc>
            </a:pPr>
            <a:endParaRPr lang="en-US" sz="2000" b="0" i="0" u="none" dirty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lang="en-US" sz="2000" dirty="0" smtClean="0">
                <a:solidFill>
                  <a:srgbClr val="94A3B8"/>
                </a:solidFill>
                <a:latin typeface="Inter"/>
              </a:rPr>
              <a:t>Permutation</a:t>
            </a: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Combinat</a:t>
            </a:r>
            <a:r>
              <a:rPr lang="en-US" sz="2000" b="0" i="0" u="none" dirty="0" smtClean="0">
                <a:solidFill>
                  <a:srgbClr val="94A3B8"/>
                </a:solidFill>
                <a:latin typeface="Inter"/>
              </a:rPr>
              <a:t>ion</a:t>
            </a:r>
          </a:p>
          <a:p>
            <a:pPr algn="l">
              <a:lnSpc>
                <a:spcPts val="1462"/>
              </a:lnSpc>
            </a:pPr>
            <a:endParaRPr lang="en-US" sz="2000" b="0" i="0" u="none" dirty="0" smtClean="0">
              <a:solidFill>
                <a:srgbClr val="94A3B8"/>
              </a:solidFill>
              <a:latin typeface="Inter"/>
            </a:endParaRPr>
          </a:p>
          <a:p>
            <a:pPr algn="l">
              <a:lnSpc>
                <a:spcPts val="1462"/>
              </a:lnSpc>
            </a:pPr>
            <a:r>
              <a:rPr sz="2000" b="0" i="0" u="none" dirty="0" smtClean="0">
                <a:solidFill>
                  <a:srgbClr val="94A3B8"/>
                </a:solidFill>
                <a:latin typeface="Inter"/>
              </a:rPr>
              <a:t>Polynomials</a:t>
            </a:r>
            <a:endParaRPr sz="2000" b="0" i="0" u="none" dirty="0">
              <a:solidFill>
                <a:srgbClr val="94A3B8"/>
              </a:solidFill>
              <a:latin typeface="Inter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15633" y="471049"/>
            <a:ext cx="10113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01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900">
        <p14:glitter pattern="hexago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698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996924"/>
            <a:ext cx="3517850" cy="284970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969207"/>
            <a:ext cx="3517850" cy="2849706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941498"/>
            <a:ext cx="3517850" cy="2849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942982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System Control &amp; Execution Flow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8675" y="3820397"/>
            <a:ext cx="317367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1F5F9"/>
                </a:solidFill>
                <a:latin typeface="Inter"/>
              </a:rPr>
              <a:t>1. Interactive Loop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4265479"/>
            <a:ext cx="302255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sz="15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500" b="0" i="0" u="none" dirty="0" smtClean="0">
                <a:solidFill>
                  <a:srgbClr val="CBD5E1"/>
                </a:solidFill>
                <a:latin typeface="Inter"/>
              </a:rPr>
              <a:t>Main menu presents categorized options. Controlled by global variable rerun_program to keep user inside current module.</a:t>
            </a:r>
            <a:endParaRPr sz="15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84650" y="3778834"/>
            <a:ext cx="317367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1F5F9"/>
                </a:solidFill>
                <a:latin typeface="Inter"/>
              </a:rPr>
              <a:t>2. Domain Checks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84650" y="4293176"/>
            <a:ext cx="302255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sz="15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en-US" sz="1500" b="0" i="0" u="none" dirty="0" smtClean="0">
                <a:solidFill>
                  <a:srgbClr val="CBD5E1"/>
                </a:solidFill>
                <a:latin typeface="Inter"/>
              </a:rPr>
              <a:t>I</a:t>
            </a:r>
            <a:r>
              <a:rPr sz="1500" b="0" i="0" u="none" dirty="0" smtClean="0">
                <a:solidFill>
                  <a:srgbClr val="CBD5E1"/>
                </a:solidFill>
                <a:latin typeface="Inter"/>
              </a:rPr>
              <a:t>nputs 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validated prior to math execution (e.g. verifying non-negative square roots or determinant non-zero for inverses).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40625" y="3764980"/>
            <a:ext cx="3173677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100" b="1" i="0" u="none" dirty="0">
                <a:solidFill>
                  <a:srgbClr val="F1F5F9"/>
                </a:solidFill>
                <a:latin typeface="Inter"/>
              </a:rPr>
              <a:t>3. Screen Buffer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0625" y="4237763"/>
            <a:ext cx="3022550" cy="1154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endParaRPr lang="en-US" sz="15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500" b="0" i="0" u="none" dirty="0" smtClean="0">
                <a:solidFill>
                  <a:srgbClr val="CBD5E1"/>
                </a:solidFill>
                <a:latin typeface="Inter"/>
              </a:rPr>
              <a:t>Custom </a:t>
            </a:r>
            <a:r>
              <a:rPr sz="1500" b="0" i="0" u="none" dirty="0">
                <a:solidFill>
                  <a:srgbClr val="CBD5E1"/>
                </a:solidFill>
                <a:latin typeface="Inter"/>
              </a:rPr>
              <a:t>control logic pauses terminal output for result inspection before clearing buffer for subsequent operations.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5" y="3185685"/>
            <a:ext cx="390525" cy="3429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50" y="3171831"/>
            <a:ext cx="342900" cy="3429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5" y="3199542"/>
            <a:ext cx="342900" cy="3429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 flipH="1">
            <a:off x="581025" y="152400"/>
            <a:ext cx="10538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02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409825"/>
            <a:ext cx="5348287" cy="418493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409825"/>
            <a:ext cx="5348287" cy="418493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942984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Exponents &amp; 3D Vector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1678134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Prithu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965" y="2532780"/>
            <a:ext cx="50956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Power &amp; Root Operations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019425"/>
            <a:ext cx="48529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Standard exponentiation powered by pow(x, y).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524252"/>
            <a:ext cx="485298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Square root calculation with zero validation: sqrt(x) for x &gt;=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170222"/>
            <a:ext cx="4852987" cy="238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Cube root calculation: cbrt(x) for real numbers.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633482"/>
            <a:ext cx="4852987" cy="9233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Nth Root calculation using fractional exponentiation: pow(a, 1.0 / b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).</a:t>
            </a:r>
            <a:endParaRPr lang="en-US" sz="17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lang="en-US" sz="1700" dirty="0" smtClean="0">
                <a:solidFill>
                  <a:srgbClr val="CBD5E1"/>
                </a:solidFill>
                <a:latin typeface="Inter"/>
              </a:rPr>
              <a:t>N.B. there is no n-</a:t>
            </a:r>
            <a:r>
              <a:rPr lang="en-US" sz="1700" dirty="0" err="1" smtClean="0">
                <a:solidFill>
                  <a:srgbClr val="CBD5E1"/>
                </a:solidFill>
                <a:latin typeface="Inter"/>
              </a:rPr>
              <a:t>th</a:t>
            </a:r>
            <a:r>
              <a:rPr lang="en-US" sz="1700" dirty="0" smtClean="0">
                <a:solidFill>
                  <a:srgbClr val="CBD5E1"/>
                </a:solidFill>
                <a:latin typeface="Inter"/>
              </a:rPr>
              <a:t> root for imaginary numbers in this calculator</a:t>
            </a:r>
            <a:endParaRPr sz="17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10337" y="2657475"/>
            <a:ext cx="509563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3D Vector Operations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0337" y="3102555"/>
            <a:ext cx="485298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Custom component array type: typedef double vector[3] representing [</a:t>
            </a:r>
            <a:r>
              <a:rPr sz="1700" b="0" i="0" u="none" dirty="0" err="1">
                <a:solidFill>
                  <a:srgbClr val="CBD5E1"/>
                </a:solidFill>
                <a:latin typeface="Inter"/>
              </a:rPr>
              <a:t>i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, j, k].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0337" y="3739000"/>
            <a:ext cx="4852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Vector Addition / Subtraction: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Component-wise element evaluation.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337" y="4393628"/>
            <a:ext cx="4852987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Dot Product: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Scalar output calculation: </a:t>
            </a:r>
            <a:endParaRPr lang="en-US" sz="17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endParaRPr lang="en-US" sz="1700" b="0" i="0" u="none" dirty="0" smtClean="0">
              <a:solidFill>
                <a:srgbClr val="CBD5E1"/>
              </a:solidFill>
              <a:latin typeface="Inter"/>
            </a:endParaRPr>
          </a:p>
          <a:p>
            <a:pPr algn="l">
              <a:lnSpc>
                <a:spcPts val="1800"/>
              </a:lnSpc>
            </a:pPr>
            <a:r>
              <a:rPr sz="1700" b="1" i="0" u="none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Inter"/>
              </a:rPr>
              <a:t>v1[0</a:t>
            </a:r>
            <a:r>
              <a:rPr sz="1700" b="1" i="0" u="none" dirty="0">
                <a:solidFill>
                  <a:schemeClr val="tx2">
                    <a:lumMod val="60000"/>
                    <a:lumOff val="40000"/>
                  </a:schemeClr>
                </a:solidFill>
                <a:latin typeface="Inter"/>
              </a:rPr>
              <a:t>]*v2[0] + v1[1]*v2[1] + v1[2]*v2[2].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10337" y="5302841"/>
            <a:ext cx="48529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Cross Product: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Computes 3D orthogonal vector product via determinant formulation.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7091" y="84002"/>
            <a:ext cx="7086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03</a:t>
            </a:r>
            <a:endParaRPr lang="en-US" dirty="0" smtClean="0">
              <a:solidFill>
                <a:schemeClr val="bg2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8602" y="5566080"/>
            <a:ext cx="455612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solidFill>
                  <a:schemeClr val="bg1"/>
                </a:solidFill>
                <a:latin typeface="Inter"/>
              </a:rPr>
              <a:t>▸Handles </a:t>
            </a:r>
            <a:r>
              <a:rPr lang="en-US" sz="1700" dirty="0" smtClean="0">
                <a:solidFill>
                  <a:schemeClr val="bg1"/>
                </a:solidFill>
                <a:latin typeface="Inter"/>
              </a:rPr>
              <a:t>imaginary numbers by detecting        “ </a:t>
            </a:r>
            <a:r>
              <a:rPr lang="en-US" sz="1700" dirty="0" err="1" smtClean="0">
                <a:solidFill>
                  <a:schemeClr val="bg1"/>
                </a:solidFill>
                <a:latin typeface="Inter"/>
              </a:rPr>
              <a:t>i</a:t>
            </a:r>
            <a:r>
              <a:rPr lang="en-US" sz="1700" dirty="0" smtClean="0">
                <a:solidFill>
                  <a:schemeClr val="bg1"/>
                </a:solidFill>
                <a:latin typeface="Inter"/>
              </a:rPr>
              <a:t> “   in user input</a:t>
            </a:r>
            <a:endParaRPr lang="en-US" sz="1700" dirty="0">
              <a:solidFill>
                <a:schemeClr val="bg1"/>
              </a:solidFill>
              <a:latin typeface="Inter"/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9345" y="3081337"/>
            <a:ext cx="3333750" cy="18288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5410" y="2258291"/>
            <a:ext cx="8021790" cy="42810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1053814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Linear Algebra Matrix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1768188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Prithu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3950" y="3471862"/>
            <a:ext cx="2933700" cy="76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sz="6000" b="1" i="0" u="none" dirty="0">
                <a:solidFill>
                  <a:srgbClr val="38BDF8"/>
                </a:solidFill>
                <a:latin typeface="Fira Code"/>
              </a:rPr>
              <a:t>10x10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1660" y="4329112"/>
            <a:ext cx="29337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 dirty="0">
                <a:solidFill>
                  <a:srgbClr val="94A3B8"/>
                </a:solidFill>
                <a:latin typeface="Inter SemiBold"/>
              </a:rPr>
              <a:t>Maximum Dynamic Matrix Size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43425" y="2678254"/>
            <a:ext cx="7160895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Supported Operations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52440" y="3261880"/>
            <a:ext cx="7558535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Addition &amp; Subtraction: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Validates equal dimensions r1 == r2 &amp;&amp; c1 == c2.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2440" y="3766710"/>
            <a:ext cx="7558535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Matrix Multiplication: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Validates compatible inner dimensions via helper </a:t>
            </a:r>
            <a:r>
              <a:rPr sz="1700" b="1" i="1" u="none" dirty="0" smtClean="0">
                <a:solidFill>
                  <a:srgbClr val="CBD5E1"/>
                </a:solidFill>
                <a:latin typeface="Inter"/>
              </a:rPr>
              <a:t>valid_dimension_to_multiply(col1</a:t>
            </a:r>
            <a:r>
              <a:rPr sz="1700" b="1" i="1" u="none" dirty="0">
                <a:solidFill>
                  <a:srgbClr val="CBD5E1"/>
                </a:solidFill>
                <a:latin typeface="Inter"/>
              </a:rPr>
              <a:t>, row2).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52440" y="4472426"/>
            <a:ext cx="765188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Determinant Solver: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Recursive Laplace expansion algorithm using helper function </a:t>
            </a:r>
            <a:r>
              <a:rPr sz="1700" b="1" i="1" u="none" dirty="0">
                <a:solidFill>
                  <a:schemeClr val="accent3">
                    <a:lumMod val="75000"/>
                  </a:schemeClr>
                </a:solidFill>
                <a:latin typeface="Inter"/>
              </a:rPr>
              <a:t>get_submatrix().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52440" y="5191993"/>
            <a:ext cx="765188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Matrix Inversion: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Solved via cofactor matrix and determinant verification.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528" y="195698"/>
            <a:ext cx="11499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04</a:t>
            </a:r>
            <a:endParaRPr lang="en-US" dirty="0">
              <a:solidFill>
                <a:schemeClr val="bg2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52440" y="5604167"/>
            <a:ext cx="7169742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 smtClean="0">
                <a:solidFill>
                  <a:srgbClr val="CBD5E1"/>
                </a:solidFill>
                <a:latin typeface="Inter"/>
              </a:rPr>
              <a:t>▸</a:t>
            </a:r>
            <a:r>
              <a:rPr lang="en-US" sz="1700" b="1" dirty="0" smtClean="0">
                <a:solidFill>
                  <a:srgbClr val="CBD5E1"/>
                </a:solidFill>
                <a:latin typeface="Inter"/>
              </a:rPr>
              <a:t>Additional helper functions:</a:t>
            </a:r>
            <a:r>
              <a:rPr lang="en-US" sz="1700" dirty="0" smtClean="0">
                <a:solidFill>
                  <a:srgbClr val="CBD5E1"/>
                </a:solidFill>
                <a:latin typeface="Inter"/>
              </a:rPr>
              <a:t> input_matrix(),  print_matrix()</a:t>
            </a:r>
            <a:endParaRPr lang="en-US" sz="17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5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652712"/>
            <a:ext cx="5348287" cy="323547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652712"/>
            <a:ext cx="5348287" cy="323547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81025" y="956837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Arithmetic &amp; Logarithmic Engine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81025" y="1727048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Tahmid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300" y="2947987"/>
            <a:ext cx="4995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Arithmetic Module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6300" y="3379212"/>
            <a:ext cx="4757737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Basic Operations: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Addition, Subtraction, Multiplication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with double precision floating point.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4241666"/>
            <a:ext cx="475773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Division: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Zero-denominator validation prior to computation: b != 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4901487"/>
            <a:ext cx="475773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Modulus: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Handles floating point and integer conversion for integer remainder calculation.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962" y="2947987"/>
            <a:ext cx="4995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Logarithm Module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7962" y="3393067"/>
            <a:ext cx="475773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Common Logarithm: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Standard base-10 calculation via log10(x).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4015655"/>
            <a:ext cx="475773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Natural Logarithm: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Euler base calculation via log(x).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4617467"/>
            <a:ext cx="4757737" cy="4798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Arbitrary Base Log: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Custom implementation using change-of-base formula: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96187" y="5134770"/>
            <a:ext cx="2018868" cy="47632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32509" y="277091"/>
            <a:ext cx="9836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05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90816"/>
            <a:ext cx="12497325" cy="704881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6" y="970688"/>
            <a:ext cx="11871482" cy="39241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Numerical Base Conversion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6" y="963931"/>
            <a:ext cx="11306174" cy="45719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81026" y="1918850"/>
            <a:ext cx="11306174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Tahmid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81026" y="2733675"/>
            <a:ext cx="11306174" cy="2524125"/>
          </a:xfrm>
          <a:prstGeom prst="roundRect">
            <a:avLst>
              <a:gd name="adj" fmla="val 0"/>
            </a:avLst>
          </a:prstGeom>
          <a:solidFill>
            <a:srgbClr val="1E293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3778796"/>
              </p:ext>
            </p:extLst>
          </p:nvPr>
        </p:nvGraphicFramePr>
        <p:xfrm>
          <a:off x="581026" y="2733675"/>
          <a:ext cx="11306174" cy="2527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4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516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50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700" b="1" i="0" u="none" dirty="0">
                          <a:solidFill>
                            <a:srgbClr val="38BDF8"/>
                          </a:solidFill>
                          <a:latin typeface="Inter"/>
                        </a:rPr>
                        <a:t>Conversion Type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38BDF8"/>
                          </a:solidFill>
                          <a:latin typeface="Inter"/>
                        </a:rPr>
                        <a:t>Buffer / Data Structure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700" b="1" i="0" u="none" dirty="0">
                          <a:solidFill>
                            <a:srgbClr val="38BDF8"/>
                          </a:solidFill>
                          <a:latin typeface="Inter"/>
                        </a:rPr>
                        <a:t>Algorithmic Mechanism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2E8F0"/>
                          </a:solidFill>
                          <a:latin typeface="Inter"/>
                        </a:rPr>
                        <a:t>Decimal to Binary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Inter"/>
                        </a:rPr>
                        <a:t>int digits[40]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Iterative division by 2; remainder array stored and printed in reverse order.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2E8F0"/>
                          </a:solidFill>
                          <a:latin typeface="Inter"/>
                        </a:rPr>
                        <a:t>Binary to 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Inter"/>
                        </a:rPr>
                        <a:t>char binary[50]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String parsing loop evaluating bit weight: answer = answer * 2 + (digit - '0').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2E8F0"/>
                          </a:solidFill>
                          <a:latin typeface="Inter"/>
                        </a:rPr>
                        <a:t>Decimal to Hex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char digits[20]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>
                          <a:solidFill>
                            <a:srgbClr val="E2E8F0"/>
                          </a:solidFill>
                          <a:latin typeface="Inter"/>
                        </a:rPr>
                        <a:t>Division by 16; maps remainders 10–15 to uppercase ASCII characters 'A' through 'F'.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825">
                <a:tc>
                  <a:txBody>
                    <a:bodyPr/>
                    <a:lstStyle/>
                    <a:p>
                      <a:pPr algn="l"/>
                      <a:r>
                        <a:rPr sz="1500" b="1" i="0" u="none" dirty="0">
                          <a:solidFill>
                            <a:srgbClr val="E2E8F0"/>
                          </a:solidFill>
                          <a:latin typeface="Inter"/>
                        </a:rPr>
                        <a:t>Hex to Decimal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char hex[20]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i="0" u="none" dirty="0">
                          <a:solidFill>
                            <a:srgbClr val="E2E8F0"/>
                          </a:solidFill>
                          <a:latin typeface="Inter"/>
                        </a:rPr>
                        <a:t>Character parsing loop evaluating 16s powers: answer = answer * 16 + hex_val.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85786" y="3240406"/>
            <a:ext cx="1902363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2441673" y="3240406"/>
            <a:ext cx="2349655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733926" y="3240406"/>
            <a:ext cx="7044390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85786" y="3735706"/>
            <a:ext cx="1902363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41673" y="3735706"/>
            <a:ext cx="2349655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733926" y="3735706"/>
            <a:ext cx="7044390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85786" y="4226243"/>
            <a:ext cx="1902363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441673" y="4226243"/>
            <a:ext cx="2349655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733926" y="4226243"/>
            <a:ext cx="7044390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85786" y="4716781"/>
            <a:ext cx="1902363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441673" y="4716781"/>
            <a:ext cx="2349655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733926" y="4716781"/>
            <a:ext cx="7044390" cy="45719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81026" y="0"/>
            <a:ext cx="998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06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514600"/>
            <a:ext cx="5348287" cy="329045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514600"/>
            <a:ext cx="5348287" cy="329045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91" y="3822125"/>
            <a:ext cx="5137633" cy="4412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764115"/>
            <a:ext cx="5152786" cy="4684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81025" y="970691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Trigonometry &amp; Inverse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81025" y="1699777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Rumi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6300" y="2809875"/>
            <a:ext cx="4995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Standard &amp; Reciprocal Functions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213390"/>
            <a:ext cx="475773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Accepts input in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Degrees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and converts to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Radians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using constant PI = 3.14159265: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4404885"/>
            <a:ext cx="475773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Evaluates sin, cos, tan standard trigonometric ratios.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5006699"/>
            <a:ext cx="475773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Derives reciprocal functions: sec(x) = 1/cos(x), cosec(x) = 1/sin(x), cot(x) = 1/tan(x).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7962" y="2809875"/>
            <a:ext cx="4995624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Inverse Trigonometric Ratios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7962" y="3241100"/>
            <a:ext cx="4757737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Computes angular results in degrees from ratio input.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7962" y="4346872"/>
            <a:ext cx="4757737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Implements arcsin, arccos, arctan, arcsec, arccosec, and arccot.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57962" y="5006694"/>
            <a:ext cx="4757737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Input domains strictly validated to prevent domain exception errors (e.g., val ∈ [-1, 1]).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21673"/>
            <a:ext cx="9005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07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2244436"/>
            <a:ext cx="3517850" cy="399010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7000" y="2244436"/>
            <a:ext cx="3517850" cy="399010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975" y="2244436"/>
            <a:ext cx="3517850" cy="399010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1025" y="67974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 dirty="0">
                <a:solidFill>
                  <a:srgbClr val="38BDF8"/>
                </a:solidFill>
                <a:latin typeface="Inter"/>
              </a:rPr>
              <a:t>Multi-Unit Conversion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81025" y="1420088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1" i="0" u="none" dirty="0">
                <a:solidFill>
                  <a:srgbClr val="38BDF8"/>
                </a:solidFill>
                <a:latin typeface="Inter SemiBold"/>
              </a:rPr>
              <a:t>Module Lead: Rumi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8675" y="3238500"/>
            <a:ext cx="31736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Distance 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8675" y="3683580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Km ↔ Miles (0.621371)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8675" y="4109608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Meters ↔ Feet (3.28084)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675" y="4563342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Cm ↔ Inches (0.393701)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8675" y="5058647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Meters ↔ Yards (1.09361)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8675" y="5512386"/>
            <a:ext cx="3022550" cy="4616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Km ↔ Nautical Miles </a:t>
            </a:r>
            <a:r>
              <a:rPr lang="en-US" sz="1700" b="0" i="0" u="none" dirty="0" smtClean="0">
                <a:solidFill>
                  <a:srgbClr val="CBD5E1"/>
                </a:solidFill>
                <a:latin typeface="Inter"/>
              </a:rPr>
              <a:t>			         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(0.539957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84650" y="3238500"/>
            <a:ext cx="31736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Mass &amp; Liquid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4650" y="3711288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Kg ↔ Pounds (2.20462)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4650" y="4095752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Grams ↔ Ounces (0.035274)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4650" y="4549489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Liters ↔ Gallons (0.264172)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0625" y="3238500"/>
            <a:ext cx="317367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Temperature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0625" y="3655870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Celsius ↔ Fahrenheit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0625" y="4054190"/>
            <a:ext cx="30225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Celsius ↔ Kelvin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40625" y="4521783"/>
            <a:ext cx="30225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• Fahrenheit ↔ Kelvin via intermediate Celsius conversion.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674" y="2476500"/>
            <a:ext cx="581025" cy="58102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84649" y="2476500"/>
            <a:ext cx="581025" cy="58102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40624" y="2503532"/>
            <a:ext cx="553993" cy="553993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81025" y="221673"/>
            <a:ext cx="828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2"/>
                </a:solidFill>
              </a:rPr>
              <a:t>08</a:t>
            </a:r>
            <a:endParaRPr lang="en-US" dirty="0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1845171"/>
            <a:ext cx="3581400" cy="424398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5300" y="1845171"/>
            <a:ext cx="3581400" cy="424398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77200" y="1845171"/>
            <a:ext cx="3581400" cy="424398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475" y="2873871"/>
            <a:ext cx="3143250" cy="37147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4375" y="2873871"/>
            <a:ext cx="3143250" cy="571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96275" y="2873871"/>
            <a:ext cx="3143250" cy="571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33400" y="479715"/>
            <a:ext cx="116586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8BDF8"/>
                </a:solidFill>
                <a:latin typeface="Inter"/>
              </a:rPr>
              <a:t>Combinatorics Engine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33400" y="1445121"/>
            <a:ext cx="1112520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2000" b="1" dirty="0">
                <a:solidFill>
                  <a:srgbClr val="38BDF8"/>
                </a:solidFill>
                <a:latin typeface="Inter SemiBold"/>
              </a:rPr>
              <a:t>Module Lead: </a:t>
            </a:r>
            <a:r>
              <a:rPr lang="en-US" sz="2000" b="1" dirty="0" smtClean="0">
                <a:solidFill>
                  <a:srgbClr val="38BDF8"/>
                </a:solidFill>
                <a:latin typeface="Inter SemiBold"/>
              </a:rPr>
              <a:t>Arif</a:t>
            </a:r>
            <a:endParaRPr sz="2000" b="0" i="0" u="none" dirty="0">
              <a:solidFill>
                <a:srgbClr val="CBD5E1"/>
              </a:solidFill>
              <a:latin typeface="Inter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2475" y="2550021"/>
            <a:ext cx="33004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1. Factorial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475" y="3321546"/>
            <a:ext cx="3143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Computes 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n! 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using an iterative multiplication loop.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2475" y="3931146"/>
            <a:ext cx="314325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Formula: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2475" y="4643088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Overflow Handling: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Returns double to handle large integers up to 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n 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= </a:t>
            </a:r>
            <a:r>
              <a:rPr lang="en-US" sz="1700" dirty="0" smtClean="0">
                <a:solidFill>
                  <a:srgbClr val="CBD5E1"/>
                </a:solidFill>
                <a:latin typeface="Inter"/>
              </a:rPr>
              <a:t>20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.</a:t>
            </a:r>
            <a:endParaRPr sz="1700" b="0" i="0" u="none" dirty="0">
              <a:solidFill>
                <a:srgbClr val="CBD5E1"/>
              </a:solidFill>
              <a:latin typeface="Inter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24375" y="2550021"/>
            <a:ext cx="33004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2. Permutation Engine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4375" y="3521571"/>
            <a:ext cx="3143250" cy="1025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2000" b="0" i="0" u="none" dirty="0">
                <a:solidFill>
                  <a:srgbClr val="CBD5E1"/>
                </a:solidFill>
                <a:latin typeface="Inter"/>
              </a:rPr>
              <a:t>▸ Calculates total ordered arrangements of $r$ objects from $n$ distinct items.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4375" y="4526896"/>
            <a:ext cx="3143250" cy="275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350" b="1" i="0" u="none" dirty="0">
                <a:solidFill>
                  <a:srgbClr val="CBD5E1"/>
                </a:solidFill>
                <a:latin typeface="Inter"/>
              </a:rPr>
              <a:t>Formula: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24375" y="5077733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Domain Check: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Validates 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n</a:t>
            </a:r>
            <a:r>
              <a:rPr lang="en-US" sz="1700" b="0" i="0" u="none" dirty="0" smtClean="0">
                <a:solidFill>
                  <a:srgbClr val="CBD5E1"/>
                </a:solidFill>
                <a:latin typeface="Inter"/>
              </a:rPr>
              <a:t>P</a:t>
            </a:r>
            <a:r>
              <a:rPr sz="1700" b="0" i="0" u="none" dirty="0" smtClean="0">
                <a:solidFill>
                  <a:srgbClr val="CBD5E1"/>
                </a:solidFill>
                <a:latin typeface="Inter"/>
              </a:rPr>
              <a:t>0 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before executing factorial ratios.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6275" y="2550021"/>
            <a:ext cx="3300412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F1F5F9"/>
                </a:solidFill>
                <a:latin typeface="Inter"/>
              </a:rPr>
              <a:t>3. Combination 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6275" y="3521571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Computes unique subset selections where selection order does not matter.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96275" y="4388346"/>
            <a:ext cx="3143250" cy="275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Inter"/>
              </a:rPr>
              <a:t>▸ </a:t>
            </a:r>
            <a:r>
              <a:rPr sz="1350" b="1" i="0" u="none">
                <a:solidFill>
                  <a:srgbClr val="CBD5E1"/>
                </a:solidFill>
                <a:latin typeface="Inter"/>
              </a:rPr>
              <a:t>Formula: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96275" y="4897623"/>
            <a:ext cx="314325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Implementation: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Leverages permutation(n, r) divided by factorial(r).</a:t>
            </a:r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2475" y="2092821"/>
            <a:ext cx="228600" cy="3048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05024" y="3931146"/>
            <a:ext cx="1002208" cy="367307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524375" y="2092821"/>
            <a:ext cx="342900" cy="3048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641401" y="4551139"/>
            <a:ext cx="1846659" cy="23738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6275" y="2092821"/>
            <a:ext cx="342900" cy="304800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91625" y="4426446"/>
            <a:ext cx="2067817" cy="23738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318655" y="162099"/>
            <a:ext cx="8451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09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999040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" y="2190154"/>
            <a:ext cx="5419725" cy="3975119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8875" y="2190154"/>
            <a:ext cx="5419725" cy="3975119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050" y="2761654"/>
            <a:ext cx="4924425" cy="37147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33400" y="493570"/>
            <a:ext cx="11658600" cy="390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>
                <a:solidFill>
                  <a:srgbClr val="38BDF8"/>
                </a:solidFill>
                <a:latin typeface="Inter"/>
              </a:rPr>
              <a:t>Polynomial Root Solver Engine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533400" y="904875"/>
            <a:ext cx="1112520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33400" y="1790104"/>
            <a:ext cx="11125200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2025"/>
              </a:lnSpc>
            </a:pPr>
            <a:r>
              <a:rPr lang="en-US" sz="2000" b="1" dirty="0">
                <a:solidFill>
                  <a:srgbClr val="38BDF8"/>
                </a:solidFill>
                <a:latin typeface="Inter SemiBold"/>
              </a:rPr>
              <a:t>Module Lead: Arif</a:t>
            </a:r>
            <a:endParaRPr sz="2000" b="0" i="0" u="none" dirty="0">
              <a:solidFill>
                <a:srgbClr val="CBD5E1"/>
              </a:solidFill>
              <a:latin typeface="Inter SemiBold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81050" y="2437804"/>
            <a:ext cx="5170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Mathematical Foundation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050" y="3209329"/>
            <a:ext cx="4924425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Solves 2nd degree quadratic equations in standard form: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1050" y="3914179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Evaluates roots using quadratic formula with discriminant $\Delta$: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1050" y="5247147"/>
            <a:ext cx="4924425" cy="256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Discriminant: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determines root characteristics.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6525" y="2437804"/>
            <a:ext cx="5170646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000" b="1" i="0" u="none" dirty="0">
                <a:solidFill>
                  <a:srgbClr val="38BDF8"/>
                </a:solidFill>
                <a:latin typeface="Inter"/>
              </a:rPr>
              <a:t>Algorithmic Decision Tree in 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86525" y="2761654"/>
            <a:ext cx="4924425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Edge Case ($a = 0$):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Reverts to 1st degree linear equation $b x + c = 0 \implies x = -c/b$.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86525" y="3371254"/>
            <a:ext cx="4924425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Real &amp; Distinct Roots ($D &gt; 0$):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700" dirty="0"/>
              <a:t>
</a:t>
            </a:r>
            <a:r>
              <a:rPr sz="1700" b="0" i="0" u="none" dirty="0">
                <a:solidFill>
                  <a:srgbClr val="38BDF8"/>
                </a:solidFill>
                <a:latin typeface="Inter"/>
              </a:rPr>
              <a:t>x1 = (-b + sqrt(D)) / (2*a)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</a:t>
            </a:r>
            <a:r>
              <a:rPr sz="1700" dirty="0"/>
              <a:t>
</a:t>
            </a:r>
            <a:r>
              <a:rPr sz="1700" b="0" i="0" u="none" dirty="0">
                <a:solidFill>
                  <a:srgbClr val="38BDF8"/>
                </a:solidFill>
                <a:latin typeface="Inter"/>
              </a:rPr>
              <a:t>x2 = (-b - sqrt(D)) / (2*a)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6525" y="4321159"/>
            <a:ext cx="4924425" cy="5129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Real &amp; Equal Roots ($D = 0$):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Single root $x = -b / (2*a)$.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86525" y="5006101"/>
            <a:ext cx="4924425" cy="769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700" b="0" i="0" u="none" dirty="0">
                <a:solidFill>
                  <a:srgbClr val="CBD5E1"/>
                </a:solidFill>
                <a:latin typeface="Inter"/>
              </a:rPr>
              <a:t>▸ </a:t>
            </a:r>
            <a:r>
              <a:rPr sz="1700" b="1" i="0" u="none" dirty="0">
                <a:solidFill>
                  <a:srgbClr val="CBD5E1"/>
                </a:solidFill>
                <a:latin typeface="Inter"/>
              </a:rPr>
              <a:t>Complex Conjugate Roots ($D &lt; 0$):</a:t>
            </a:r>
            <a:r>
              <a:rPr sz="1700" b="0" i="0" u="none" dirty="0">
                <a:solidFill>
                  <a:srgbClr val="CBD5E1"/>
                </a:solidFill>
                <a:latin typeface="Inter"/>
              </a:rPr>
              <a:t> Solves imaginary parts using sqrt(-D)/(2*a); displays in $a \pm bi$ format.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76512" y="3576339"/>
            <a:ext cx="1333500" cy="185439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66925" y="4693683"/>
            <a:ext cx="1028700" cy="18543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304800" y="193964"/>
            <a:ext cx="476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chemeClr val="bg1"/>
                </a:solidFill>
              </a:rPr>
              <a:t>10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58863933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05276" y="1817103"/>
            <a:ext cx="11581447" cy="7334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4800" b="1" i="0" u="none" dirty="0">
                <a:solidFill>
                  <a:srgbClr val="F8FAFC"/>
                </a:solidFill>
                <a:latin typeface="Inter"/>
              </a:rPr>
              <a:t>Questions &amp;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1025" y="3303012"/>
            <a:ext cx="11029950" cy="29302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b="0" i="0" u="none" dirty="0">
                <a:solidFill>
                  <a:srgbClr val="38BDF8"/>
                </a:solidFill>
                <a:latin typeface="Inter"/>
              </a:rPr>
              <a:t>Scientific Calculator in C — Project Presentation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1025" y="4037308"/>
            <a:ext cx="11029950" cy="231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2000" b="0" i="0" u="none" dirty="0">
                <a:solidFill>
                  <a:srgbClr val="94A3B8"/>
                </a:solidFill>
                <a:latin typeface="Inter"/>
              </a:rPr>
              <a:t>CSE 115 | Section 05 | Group 13 | Department of ECE | North South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1025" y="4716179"/>
            <a:ext cx="11029950" cy="32316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100" b="0" i="0" u="none" dirty="0">
                <a:solidFill>
                  <a:srgbClr val="94A3B8"/>
                </a:solidFill>
                <a:latin typeface="Fira Code"/>
              </a:rPr>
              <a:t>Prithu  |  Tahmid  |  Rumi  |  Arif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500">
        <p15:prstTrans prst="curtains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641162" y="2052931"/>
            <a:ext cx="4909677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Thank You </a:t>
            </a:r>
          </a:p>
          <a:p>
            <a:pPr algn="ctr"/>
            <a: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Until Next Time</a:t>
            </a:r>
            <a:b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</a:br>
            <a:r>
              <a:rPr lang="en-US" sz="5400" dirty="0" smtClean="0">
                <a:ln w="0"/>
                <a:gradFill>
                  <a:gsLst>
                    <a:gs pos="0">
                      <a:schemeClr val="accent5">
                        <a:lumMod val="50000"/>
                      </a:schemeClr>
                    </a:gs>
                    <a:gs pos="50000">
                      <a:schemeClr val="accent5"/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5400000"/>
                </a:gradFill>
                <a:effectLst>
                  <a:reflection blurRad="6350" stA="53000" endA="300" endPos="35500" dir="5400000" sy="-90000" algn="bl" rotWithShape="0"/>
                </a:effectLst>
              </a:rPr>
              <a:t>Fellow Engineers</a:t>
            </a:r>
            <a:endParaRPr lang="en-US" sz="5400" dirty="0">
              <a:ln w="0"/>
              <a:gradFill>
                <a:gsLst>
                  <a:gs pos="0">
                    <a:schemeClr val="accent5">
                      <a:lumMod val="50000"/>
                    </a:schemeClr>
                  </a:gs>
                  <a:gs pos="50000">
                    <a:schemeClr val="accent5"/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5400000"/>
              </a:gradFill>
              <a:effectLst>
                <a:reflection blurRad="6350" stA="53000" endA="300" endPos="35500" dir="5400000" sy="-9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3935926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4400">
        <p14:honeycomb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81025" y="485775"/>
            <a:ext cx="11581447" cy="4095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1" i="0" u="none">
                <a:solidFill>
                  <a:srgbClr val="38BDF8"/>
                </a:solidFill>
                <a:latin typeface="Inter"/>
              </a:rPr>
              <a:t>Image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81025" y="990600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025" y="3571875"/>
            <a:ext cx="857250" cy="4762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676400" y="3579018"/>
            <a:ext cx="9934575" cy="1857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2"/>
              </a:lnSpc>
            </a:pPr>
            <a:r>
              <a:rPr sz="975" b="0" i="0" u="none">
                <a:solidFill>
                  <a:srgbClr val="CBD5E1"/>
                </a:solidFill>
                <a:latin typeface="Inter"/>
              </a:rPr>
              <a:t>https://d2o2utebsixu4k.cloudfront.net/image-8d280a76937243ac93066c0ab218ae98.png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76400" y="3812381"/>
            <a:ext cx="99345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CBD5E1"/>
                </a:solidFill>
                <a:latin typeface="Inter"/>
              </a:rPr>
              <a:t>Source: </a:t>
            </a:r>
            <a:r>
              <a:rPr sz="1200" b="0" i="0" u="none">
                <a:solidFill>
                  <a:srgbClr val="4F46E5"/>
                </a:solidFill>
                <a:latin typeface="Inter"/>
              </a:rPr>
              <a:t>www.upgrad.com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1026</Words>
  <Application>Microsoft Office PowerPoint</Application>
  <PresentationFormat>Widescreen</PresentationFormat>
  <Paragraphs>177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Fira Code</vt:lpstr>
      <vt:lpstr>Fira Code SemiBold</vt:lpstr>
      <vt:lpstr>Inter</vt:lpstr>
      <vt:lpstr>Inter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Prithu</dc:creator>
  <cp:keywords/>
  <dc:description>generated using python-pptx</dc:description>
  <cp:lastModifiedBy>Prithu</cp:lastModifiedBy>
  <cp:revision>27</cp:revision>
  <dcterms:created xsi:type="dcterms:W3CDTF">2013-01-27T09:14:16Z</dcterms:created>
  <dcterms:modified xsi:type="dcterms:W3CDTF">2026-08-21T12:44:45Z</dcterms:modified>
  <cp:category/>
</cp:coreProperties>
</file>