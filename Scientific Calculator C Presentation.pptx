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4" r:id="rId6"/>
    <p:sldId id="265" r:id="rId7"/>
    <p:sldId id="260" r:id="rId8"/>
    <p:sldId id="261" r:id="rId9"/>
    <p:sldId id="262" r:id="rId10"/>
    <p:sldId id="263" r:id="rId11"/>
    <p:sldId id="271" r:id="rId12"/>
    <p:sldId id="272" r:id="rId13"/>
    <p:sldId id="267" r:id="rId14"/>
    <p:sldId id="269" r:id="rId15"/>
    <p:sldId id="268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8BDF8"/>
    <a:srgbClr val="33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9" d="100"/>
          <a:sy n="69" d="100"/>
        </p:scale>
        <p:origin x="756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  <p:transition spd="slow">
    <p:wip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  <p:transition spd="slow">
    <p:wip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  <p:transition spd="slow">
    <p:wip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  <p:transition spd="slow">
    <p:wip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  <p:transition spd="slow">
    <p:wip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  <p:transition spd="slow">
    <p:wip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  <p:transition spd="slow">
    <p:wip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  <p:transition spd="slow">
    <p:wip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  <p:transition spd="slow">
    <p:wip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  <p:transition spd="slow">
    <p:wip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  <p:transition spd="slow">
    <p:wip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>
    <p:wipe/>
  </p:transition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13" Type="http://schemas.openxmlformats.org/officeDocument/2006/relationships/image" Target="../media/image45.png"/><Relationship Id="rId3" Type="http://schemas.openxmlformats.org/officeDocument/2006/relationships/image" Target="../media/image35.png"/><Relationship Id="rId7" Type="http://schemas.openxmlformats.org/officeDocument/2006/relationships/image" Target="../media/image39.png"/><Relationship Id="rId12" Type="http://schemas.openxmlformats.org/officeDocument/2006/relationships/image" Target="../media/image4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8.png"/><Relationship Id="rId11" Type="http://schemas.openxmlformats.org/officeDocument/2006/relationships/image" Target="../media/image43.png"/><Relationship Id="rId5" Type="http://schemas.openxmlformats.org/officeDocument/2006/relationships/image" Target="../media/image37.png"/><Relationship Id="rId10" Type="http://schemas.openxmlformats.org/officeDocument/2006/relationships/image" Target="../media/image42.png"/><Relationship Id="rId4" Type="http://schemas.openxmlformats.org/officeDocument/2006/relationships/image" Target="../media/image36.png"/><Relationship Id="rId9" Type="http://schemas.openxmlformats.org/officeDocument/2006/relationships/image" Target="../media/image41.png"/><Relationship Id="rId14" Type="http://schemas.openxmlformats.org/officeDocument/2006/relationships/image" Target="../media/image4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7" Type="http://schemas.openxmlformats.org/officeDocument/2006/relationships/image" Target="../media/image5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025" y="3473920"/>
            <a:ext cx="2650331" cy="2414262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4231" y="3473920"/>
            <a:ext cx="2650331" cy="2414262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67437" y="3473920"/>
            <a:ext cx="2650331" cy="2414262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60643" y="3473920"/>
            <a:ext cx="2650331" cy="241426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536156" y="1237803"/>
            <a:ext cx="5281612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u="none" dirty="0">
                <a:solidFill>
                  <a:srgbClr val="FFFFFF"/>
                </a:solidFill>
                <a:latin typeface="Fira Code SemiBold"/>
              </a:rPr>
              <a:t>CSE 115 | Section </a:t>
            </a:r>
            <a:r>
              <a:rPr sz="1400" b="0" i="0" u="none" dirty="0" smtClean="0">
                <a:solidFill>
                  <a:srgbClr val="FFFFFF"/>
                </a:solidFill>
                <a:latin typeface="Fira Code SemiBold"/>
              </a:rPr>
              <a:t>0</a:t>
            </a:r>
            <a:r>
              <a:rPr lang="en-US" sz="1400" b="0" i="0" u="none" dirty="0" smtClean="0">
                <a:solidFill>
                  <a:srgbClr val="FFFFFF"/>
                </a:solidFill>
                <a:latin typeface="Fira Code SemiBold"/>
              </a:rPr>
              <a:t>3</a:t>
            </a:r>
            <a:r>
              <a:rPr sz="1400" b="0" i="0" u="none" dirty="0" smtClean="0">
                <a:solidFill>
                  <a:srgbClr val="FFFFFF"/>
                </a:solidFill>
                <a:latin typeface="Fira Code SemiBold"/>
              </a:rPr>
              <a:t> </a:t>
            </a:r>
            <a:r>
              <a:rPr sz="1400" b="0" i="0" u="none" dirty="0">
                <a:solidFill>
                  <a:srgbClr val="FFFFFF"/>
                </a:solidFill>
                <a:latin typeface="Fira Code SemiBold"/>
              </a:rPr>
              <a:t>| Group </a:t>
            </a:r>
            <a:r>
              <a:rPr lang="en-US" sz="1400" dirty="0" smtClean="0">
                <a:solidFill>
                  <a:srgbClr val="FFFFFF"/>
                </a:solidFill>
                <a:latin typeface="Fira Code SemiBold"/>
              </a:rPr>
              <a:t>09</a:t>
            </a:r>
            <a:endParaRPr sz="1400" b="0" i="0" u="none" dirty="0">
              <a:solidFill>
                <a:srgbClr val="FFFFFF"/>
              </a:solidFill>
              <a:latin typeface="Fira Code SemiBold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075497" y="2190303"/>
            <a:ext cx="8041005" cy="586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4620"/>
              </a:lnSpc>
            </a:pPr>
            <a:r>
              <a:rPr sz="4200" b="1" i="0" u="none">
                <a:solidFill>
                  <a:srgbClr val="F8FAFC"/>
                </a:solidFill>
                <a:latin typeface="Inter"/>
              </a:rPr>
              <a:t>SCIENTIFIC CALCULATOR IN 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6062" y="2919858"/>
            <a:ext cx="6619875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250"/>
              </a:lnSpc>
            </a:pPr>
            <a:r>
              <a:rPr sz="1500" b="0" i="0" u="none">
                <a:solidFill>
                  <a:srgbClr val="94A3B8"/>
                </a:solidFill>
                <a:latin typeface="Inter"/>
              </a:rPr>
              <a:t>A Modular Command-Line Computing Engine for Advanced Mathematics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4777233"/>
            <a:ext cx="8326582" cy="19236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62"/>
              </a:lnSpc>
            </a:pPr>
            <a:endParaRPr lang="en-US" sz="975" b="0" i="0" u="none" dirty="0" smtClean="0">
              <a:solidFill>
                <a:srgbClr val="64748B"/>
              </a:solidFill>
              <a:latin typeface="Fira Code"/>
            </a:endParaRPr>
          </a:p>
          <a:p>
            <a:pPr algn="ctr">
              <a:lnSpc>
                <a:spcPts val="1462"/>
              </a:lnSpc>
            </a:pPr>
            <a:endParaRPr lang="en-US" sz="975" dirty="0">
              <a:solidFill>
                <a:srgbClr val="64748B"/>
              </a:solidFill>
              <a:latin typeface="Fira Code"/>
            </a:endParaRPr>
          </a:p>
          <a:p>
            <a:pPr algn="ctr">
              <a:lnSpc>
                <a:spcPts val="1462"/>
              </a:lnSpc>
            </a:pPr>
            <a:endParaRPr lang="en-US" sz="975" b="0" i="0" u="none" dirty="0" smtClean="0">
              <a:solidFill>
                <a:srgbClr val="64748B"/>
              </a:solidFill>
              <a:latin typeface="Fira Code"/>
            </a:endParaRPr>
          </a:p>
          <a:p>
            <a:pPr algn="ctr">
              <a:lnSpc>
                <a:spcPts val="1462"/>
              </a:lnSpc>
            </a:pPr>
            <a:endParaRPr lang="en-US" sz="975" dirty="0">
              <a:solidFill>
                <a:srgbClr val="64748B"/>
              </a:solidFill>
              <a:latin typeface="Fira Code"/>
            </a:endParaRPr>
          </a:p>
          <a:p>
            <a:pPr algn="ctr">
              <a:lnSpc>
                <a:spcPts val="1462"/>
              </a:lnSpc>
            </a:pPr>
            <a:endParaRPr lang="en-US" sz="975" b="0" i="0" u="none" dirty="0" smtClean="0">
              <a:solidFill>
                <a:srgbClr val="64748B"/>
              </a:solidFill>
              <a:latin typeface="Fira Code"/>
            </a:endParaRPr>
          </a:p>
          <a:p>
            <a:pPr algn="ctr">
              <a:lnSpc>
                <a:spcPts val="1462"/>
              </a:lnSpc>
            </a:pPr>
            <a:endParaRPr lang="en-US" sz="975" dirty="0">
              <a:solidFill>
                <a:srgbClr val="64748B"/>
              </a:solidFill>
              <a:latin typeface="Fira Code"/>
            </a:endParaRPr>
          </a:p>
          <a:p>
            <a:pPr algn="ctr">
              <a:lnSpc>
                <a:spcPts val="1462"/>
              </a:lnSpc>
            </a:pPr>
            <a:endParaRPr lang="en-US" sz="975" b="0" i="0" u="none" dirty="0" smtClean="0">
              <a:solidFill>
                <a:srgbClr val="64748B"/>
              </a:solidFill>
              <a:latin typeface="Fira Code"/>
            </a:endParaRPr>
          </a:p>
          <a:p>
            <a:pPr algn="ctr">
              <a:lnSpc>
                <a:spcPts val="1462"/>
              </a:lnSpc>
            </a:pPr>
            <a:endParaRPr lang="en-US" sz="975" dirty="0">
              <a:solidFill>
                <a:srgbClr val="64748B"/>
              </a:solidFill>
              <a:latin typeface="Fira Code"/>
            </a:endParaRPr>
          </a:p>
          <a:p>
            <a:pPr algn="ctr">
              <a:lnSpc>
                <a:spcPts val="1462"/>
              </a:lnSpc>
            </a:pPr>
            <a:endParaRPr lang="en-US" sz="975" b="0" i="0" u="none" dirty="0" smtClean="0">
              <a:solidFill>
                <a:srgbClr val="64748B"/>
              </a:solidFill>
              <a:latin typeface="Fira Code"/>
            </a:endParaRPr>
          </a:p>
          <a:p>
            <a:pPr algn="ctr">
              <a:lnSpc>
                <a:spcPts val="1462"/>
              </a:lnSpc>
            </a:pPr>
            <a:r>
              <a:rPr sz="1400" b="0" i="0" u="none" dirty="0" smtClean="0">
                <a:solidFill>
                  <a:srgbClr val="64748B"/>
                </a:solidFill>
                <a:latin typeface="Fira Code"/>
              </a:rPr>
              <a:t>Department </a:t>
            </a:r>
            <a:r>
              <a:rPr sz="1400" b="0" i="0" u="none" dirty="0">
                <a:solidFill>
                  <a:srgbClr val="64748B"/>
                </a:solidFill>
                <a:latin typeface="Fira Code"/>
              </a:rPr>
              <a:t>of </a:t>
            </a:r>
            <a:r>
              <a:rPr sz="1400" b="0" i="0" u="none" dirty="0" smtClean="0">
                <a:solidFill>
                  <a:srgbClr val="64748B"/>
                </a:solidFill>
                <a:latin typeface="Fira Code"/>
              </a:rPr>
              <a:t>Electrical </a:t>
            </a:r>
            <a:r>
              <a:rPr sz="1400" b="0" i="0" u="none" dirty="0">
                <a:solidFill>
                  <a:srgbClr val="64748B"/>
                </a:solidFill>
                <a:latin typeface="Fira Code"/>
              </a:rPr>
              <a:t>&amp; Computer Engineering | North South University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1609" y="3877121"/>
            <a:ext cx="2326481" cy="654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3000" b="1" i="0" u="none" dirty="0" smtClean="0">
                <a:solidFill>
                  <a:srgbClr val="38BDF8"/>
                </a:solidFill>
                <a:latin typeface="Inter"/>
              </a:rPr>
              <a:t>Prithu</a:t>
            </a:r>
            <a:endParaRPr lang="en-US" sz="3000" b="1" i="0" u="none" dirty="0" smtClean="0">
              <a:solidFill>
                <a:srgbClr val="38BDF8"/>
              </a:solidFill>
              <a:latin typeface="Inter"/>
            </a:endParaRPr>
          </a:p>
          <a:p>
            <a:pPr algn="l">
              <a:lnSpc>
                <a:spcPts val="1687"/>
              </a:lnSpc>
            </a:pPr>
            <a:endParaRPr lang="en-US" sz="3000" b="1" dirty="0">
              <a:solidFill>
                <a:srgbClr val="38BDF8"/>
              </a:solidFill>
              <a:latin typeface="Inter"/>
            </a:endParaRPr>
          </a:p>
          <a:p>
            <a:pPr algn="l">
              <a:lnSpc>
                <a:spcPts val="1687"/>
              </a:lnSpc>
            </a:pPr>
            <a:endParaRPr sz="3000" b="1" i="0" u="none" dirty="0">
              <a:solidFill>
                <a:srgbClr val="38BDF8"/>
              </a:solidFill>
              <a:latin typeface="Inter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42950" y="4143821"/>
            <a:ext cx="2326481" cy="13465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endParaRPr lang="en-US" sz="2000" b="0" i="0" u="none" dirty="0" smtClean="0">
              <a:solidFill>
                <a:srgbClr val="94A3B8"/>
              </a:solidFill>
              <a:latin typeface="Inter"/>
            </a:endParaRPr>
          </a:p>
          <a:p>
            <a:pPr algn="l">
              <a:lnSpc>
                <a:spcPts val="1462"/>
              </a:lnSpc>
            </a:pPr>
            <a:endParaRPr lang="en-US" sz="2000" dirty="0">
              <a:solidFill>
                <a:srgbClr val="94A3B8"/>
              </a:solidFill>
              <a:latin typeface="Inter"/>
            </a:endParaRPr>
          </a:p>
          <a:p>
            <a:pPr algn="l">
              <a:lnSpc>
                <a:spcPts val="1462"/>
              </a:lnSpc>
            </a:pPr>
            <a:r>
              <a:rPr sz="2000" b="0" i="0" u="none" dirty="0" smtClean="0">
                <a:solidFill>
                  <a:srgbClr val="94A3B8"/>
                </a:solidFill>
                <a:latin typeface="Inter"/>
              </a:rPr>
              <a:t>Power</a:t>
            </a:r>
            <a:r>
              <a:rPr lang="en-US" sz="2000" b="0" i="0" u="none" dirty="0" smtClean="0">
                <a:solidFill>
                  <a:srgbClr val="94A3B8"/>
                </a:solidFill>
                <a:latin typeface="Inter"/>
              </a:rPr>
              <a:t>-</a:t>
            </a:r>
            <a:r>
              <a:rPr sz="2000" b="0" i="0" u="none" dirty="0" smtClean="0">
                <a:solidFill>
                  <a:srgbClr val="94A3B8"/>
                </a:solidFill>
                <a:latin typeface="Inter"/>
              </a:rPr>
              <a:t>Root </a:t>
            </a:r>
            <a:endParaRPr lang="en-US" sz="2000" b="0" i="0" u="none" dirty="0" smtClean="0">
              <a:solidFill>
                <a:srgbClr val="94A3B8"/>
              </a:solidFill>
              <a:latin typeface="Inter"/>
            </a:endParaRPr>
          </a:p>
          <a:p>
            <a:pPr algn="l">
              <a:lnSpc>
                <a:spcPts val="1462"/>
              </a:lnSpc>
            </a:pPr>
            <a:endParaRPr lang="en-US" sz="2000" b="0" i="0" u="none" dirty="0" smtClean="0">
              <a:solidFill>
                <a:srgbClr val="94A3B8"/>
              </a:solidFill>
              <a:latin typeface="Inter"/>
            </a:endParaRPr>
          </a:p>
          <a:p>
            <a:pPr algn="l">
              <a:lnSpc>
                <a:spcPts val="1462"/>
              </a:lnSpc>
            </a:pPr>
            <a:r>
              <a:rPr sz="2000" b="0" i="0" u="none" dirty="0" smtClean="0">
                <a:solidFill>
                  <a:srgbClr val="94A3B8"/>
                </a:solidFill>
                <a:latin typeface="Inter"/>
              </a:rPr>
              <a:t>Matrix </a:t>
            </a:r>
            <a:endParaRPr lang="en-US" sz="2000" dirty="0">
              <a:solidFill>
                <a:srgbClr val="94A3B8"/>
              </a:solidFill>
              <a:latin typeface="Inter"/>
            </a:endParaRPr>
          </a:p>
          <a:p>
            <a:pPr algn="l">
              <a:lnSpc>
                <a:spcPts val="1462"/>
              </a:lnSpc>
            </a:pPr>
            <a:endParaRPr lang="en-US" sz="2000" b="0" i="0" u="none" dirty="0" smtClean="0">
              <a:solidFill>
                <a:srgbClr val="94A3B8"/>
              </a:solidFill>
              <a:latin typeface="Inter"/>
            </a:endParaRPr>
          </a:p>
          <a:p>
            <a:pPr algn="l">
              <a:lnSpc>
                <a:spcPts val="1462"/>
              </a:lnSpc>
            </a:pPr>
            <a:r>
              <a:rPr sz="2000" b="0" i="0" u="none" dirty="0" smtClean="0">
                <a:solidFill>
                  <a:srgbClr val="94A3B8"/>
                </a:solidFill>
                <a:latin typeface="Inter"/>
              </a:rPr>
              <a:t>Vector</a:t>
            </a:r>
            <a:endParaRPr sz="2000" b="0" i="0" u="none" dirty="0">
              <a:solidFill>
                <a:srgbClr val="94A3B8"/>
              </a:solidFill>
              <a:latin typeface="Inter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536156" y="3891408"/>
            <a:ext cx="2326481" cy="2510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3000" b="1" i="0" u="none" dirty="0">
                <a:solidFill>
                  <a:srgbClr val="38BDF8"/>
                </a:solidFill>
                <a:latin typeface="Inter"/>
              </a:rPr>
              <a:t>Tahmid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6156" y="4143821"/>
            <a:ext cx="2326481" cy="15388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endParaRPr lang="en-US" sz="2000" b="0" i="0" u="none" dirty="0" smtClean="0">
              <a:solidFill>
                <a:srgbClr val="94A3B8"/>
              </a:solidFill>
              <a:latin typeface="Inter"/>
            </a:endParaRPr>
          </a:p>
          <a:p>
            <a:pPr algn="l">
              <a:lnSpc>
                <a:spcPts val="1462"/>
              </a:lnSpc>
            </a:pPr>
            <a:endParaRPr lang="en-US" sz="2000" dirty="0">
              <a:solidFill>
                <a:srgbClr val="94A3B8"/>
              </a:solidFill>
              <a:latin typeface="Inter"/>
            </a:endParaRPr>
          </a:p>
          <a:p>
            <a:pPr algn="l">
              <a:lnSpc>
                <a:spcPts val="1462"/>
              </a:lnSpc>
            </a:pPr>
            <a:r>
              <a:rPr sz="2000" b="0" i="0" u="none" dirty="0" smtClean="0">
                <a:solidFill>
                  <a:srgbClr val="94A3B8"/>
                </a:solidFill>
                <a:latin typeface="Inter"/>
              </a:rPr>
              <a:t>Arithmetic</a:t>
            </a:r>
            <a:endParaRPr lang="en-US" sz="2000" b="0" i="0" u="none" dirty="0" smtClean="0">
              <a:solidFill>
                <a:srgbClr val="94A3B8"/>
              </a:solidFill>
              <a:latin typeface="Inter"/>
            </a:endParaRPr>
          </a:p>
          <a:p>
            <a:pPr algn="l">
              <a:lnSpc>
                <a:spcPts val="1462"/>
              </a:lnSpc>
            </a:pPr>
            <a:endParaRPr lang="en-US" sz="2000" b="0" i="0" u="none" dirty="0" smtClean="0">
              <a:solidFill>
                <a:srgbClr val="94A3B8"/>
              </a:solidFill>
              <a:latin typeface="Inter"/>
            </a:endParaRPr>
          </a:p>
          <a:p>
            <a:pPr algn="l">
              <a:lnSpc>
                <a:spcPts val="1462"/>
              </a:lnSpc>
            </a:pPr>
            <a:r>
              <a:rPr sz="2000" b="0" i="0" u="none" dirty="0" smtClean="0">
                <a:solidFill>
                  <a:srgbClr val="94A3B8"/>
                </a:solidFill>
                <a:latin typeface="Inter"/>
              </a:rPr>
              <a:t> Log</a:t>
            </a:r>
            <a:endParaRPr lang="en-US" sz="2000" b="0" i="0" u="none" dirty="0" smtClean="0">
              <a:solidFill>
                <a:srgbClr val="94A3B8"/>
              </a:solidFill>
              <a:latin typeface="Inter"/>
            </a:endParaRPr>
          </a:p>
          <a:p>
            <a:pPr algn="l">
              <a:lnSpc>
                <a:spcPts val="1462"/>
              </a:lnSpc>
            </a:pPr>
            <a:endParaRPr lang="en-US" sz="2000" b="0" i="0" u="none" dirty="0" smtClean="0">
              <a:solidFill>
                <a:srgbClr val="94A3B8"/>
              </a:solidFill>
              <a:latin typeface="Inter"/>
            </a:endParaRPr>
          </a:p>
          <a:p>
            <a:pPr algn="l">
              <a:lnSpc>
                <a:spcPts val="1462"/>
              </a:lnSpc>
            </a:pPr>
            <a:r>
              <a:rPr sz="2000" b="0" i="0" u="none" dirty="0" smtClean="0">
                <a:solidFill>
                  <a:srgbClr val="94A3B8"/>
                </a:solidFill>
                <a:latin typeface="Inter"/>
              </a:rPr>
              <a:t>Base </a:t>
            </a:r>
            <a:r>
              <a:rPr lang="en-US" sz="2000" b="0" i="0" u="none" dirty="0" smtClean="0">
                <a:solidFill>
                  <a:srgbClr val="94A3B8"/>
                </a:solidFill>
                <a:latin typeface="Inter"/>
              </a:rPr>
              <a:t>Conversion</a:t>
            </a:r>
          </a:p>
          <a:p>
            <a:pPr algn="l">
              <a:lnSpc>
                <a:spcPts val="1462"/>
              </a:lnSpc>
            </a:pPr>
            <a:endParaRPr sz="2000" b="0" i="0" u="none" dirty="0">
              <a:solidFill>
                <a:srgbClr val="94A3B8"/>
              </a:solidFill>
              <a:latin typeface="Inter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329362" y="3891408"/>
            <a:ext cx="2326481" cy="2510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3000" b="1" i="0" u="none" dirty="0">
                <a:solidFill>
                  <a:srgbClr val="38BDF8"/>
                </a:solidFill>
                <a:latin typeface="Inter"/>
              </a:rPr>
              <a:t>Rumi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9362" y="4143821"/>
            <a:ext cx="2326481" cy="9618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endParaRPr lang="en-US" sz="2000" b="0" i="0" u="none" dirty="0" smtClean="0">
              <a:solidFill>
                <a:srgbClr val="94A3B8"/>
              </a:solidFill>
              <a:latin typeface="Inter"/>
            </a:endParaRPr>
          </a:p>
          <a:p>
            <a:pPr algn="l">
              <a:lnSpc>
                <a:spcPts val="1462"/>
              </a:lnSpc>
            </a:pPr>
            <a:endParaRPr lang="en-US" sz="2000" dirty="0">
              <a:solidFill>
                <a:srgbClr val="94A3B8"/>
              </a:solidFill>
              <a:latin typeface="Inter"/>
            </a:endParaRPr>
          </a:p>
          <a:p>
            <a:pPr algn="l">
              <a:lnSpc>
                <a:spcPts val="1462"/>
              </a:lnSpc>
            </a:pPr>
            <a:r>
              <a:rPr lang="en-US" sz="2000" b="0" i="0" u="none" dirty="0" smtClean="0">
                <a:solidFill>
                  <a:srgbClr val="94A3B8"/>
                </a:solidFill>
                <a:latin typeface="Inter"/>
              </a:rPr>
              <a:t>T</a:t>
            </a:r>
            <a:r>
              <a:rPr sz="2000" b="0" i="0" u="none" dirty="0" smtClean="0">
                <a:solidFill>
                  <a:srgbClr val="94A3B8"/>
                </a:solidFill>
                <a:latin typeface="Inter"/>
              </a:rPr>
              <a:t>rig</a:t>
            </a:r>
            <a:r>
              <a:rPr lang="en-US" sz="2000" b="0" i="0" u="none" dirty="0" smtClean="0">
                <a:solidFill>
                  <a:srgbClr val="94A3B8"/>
                </a:solidFill>
                <a:latin typeface="Inter"/>
              </a:rPr>
              <a:t>o</a:t>
            </a:r>
            <a:r>
              <a:rPr sz="2000" b="0" i="0" u="none" dirty="0" smtClean="0">
                <a:solidFill>
                  <a:srgbClr val="94A3B8"/>
                </a:solidFill>
                <a:latin typeface="Inter"/>
              </a:rPr>
              <a:t>nometry</a:t>
            </a:r>
            <a:endParaRPr lang="en-US" sz="2000" b="0" i="0" u="none" dirty="0" smtClean="0">
              <a:solidFill>
                <a:srgbClr val="94A3B8"/>
              </a:solidFill>
              <a:latin typeface="Inter"/>
            </a:endParaRPr>
          </a:p>
          <a:p>
            <a:pPr algn="l">
              <a:lnSpc>
                <a:spcPts val="1462"/>
              </a:lnSpc>
            </a:pPr>
            <a:endParaRPr lang="en-US" sz="2000" b="0" i="0" u="none" dirty="0" smtClean="0">
              <a:solidFill>
                <a:srgbClr val="94A3B8"/>
              </a:solidFill>
              <a:latin typeface="Inter"/>
            </a:endParaRPr>
          </a:p>
          <a:p>
            <a:pPr algn="l">
              <a:lnSpc>
                <a:spcPts val="1462"/>
              </a:lnSpc>
            </a:pPr>
            <a:r>
              <a:rPr sz="2000" b="0" i="0" u="none" dirty="0" smtClean="0">
                <a:solidFill>
                  <a:srgbClr val="94A3B8"/>
                </a:solidFill>
                <a:latin typeface="Inter"/>
              </a:rPr>
              <a:t>Unit Conv</a:t>
            </a:r>
            <a:r>
              <a:rPr lang="en-US" sz="2000" b="0" i="0" u="none" dirty="0" smtClean="0">
                <a:solidFill>
                  <a:srgbClr val="94A3B8"/>
                </a:solidFill>
                <a:latin typeface="Inter"/>
              </a:rPr>
              <a:t>ersion</a:t>
            </a:r>
            <a:endParaRPr sz="2000" b="0" i="0" u="none" dirty="0">
              <a:solidFill>
                <a:srgbClr val="94A3B8"/>
              </a:solidFill>
              <a:latin typeface="Inter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9122568" y="3891408"/>
            <a:ext cx="2326481" cy="2510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3000" b="1" i="0" u="none" dirty="0">
                <a:solidFill>
                  <a:srgbClr val="38BDF8"/>
                </a:solidFill>
                <a:latin typeface="Inter"/>
              </a:rPr>
              <a:t>Arif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22568" y="4143821"/>
            <a:ext cx="2326481" cy="15388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endParaRPr lang="en-US" sz="2000" b="0" i="0" u="none" dirty="0" smtClean="0">
              <a:solidFill>
                <a:srgbClr val="94A3B8"/>
              </a:solidFill>
              <a:latin typeface="Inter"/>
            </a:endParaRPr>
          </a:p>
          <a:p>
            <a:pPr algn="l">
              <a:lnSpc>
                <a:spcPts val="1462"/>
              </a:lnSpc>
            </a:pPr>
            <a:r>
              <a:rPr lang="en-US" sz="2000" dirty="0" smtClean="0">
                <a:solidFill>
                  <a:srgbClr val="94A3B8"/>
                </a:solidFill>
                <a:latin typeface="Inter"/>
              </a:rPr>
              <a:t>Factorial</a:t>
            </a:r>
          </a:p>
          <a:p>
            <a:pPr algn="l">
              <a:lnSpc>
                <a:spcPts val="1462"/>
              </a:lnSpc>
            </a:pPr>
            <a:endParaRPr lang="en-US" sz="2000" b="0" i="0" u="none" dirty="0">
              <a:solidFill>
                <a:srgbClr val="94A3B8"/>
              </a:solidFill>
              <a:latin typeface="Inter"/>
            </a:endParaRPr>
          </a:p>
          <a:p>
            <a:pPr algn="l">
              <a:lnSpc>
                <a:spcPts val="1462"/>
              </a:lnSpc>
            </a:pPr>
            <a:r>
              <a:rPr lang="en-US" sz="2000" dirty="0" smtClean="0">
                <a:solidFill>
                  <a:srgbClr val="94A3B8"/>
                </a:solidFill>
                <a:latin typeface="Inter"/>
              </a:rPr>
              <a:t>Permutation</a:t>
            </a:r>
          </a:p>
          <a:p>
            <a:pPr algn="l">
              <a:lnSpc>
                <a:spcPts val="1462"/>
              </a:lnSpc>
            </a:pPr>
            <a:endParaRPr lang="en-US" sz="2000" b="0" i="0" u="none" dirty="0" smtClean="0">
              <a:solidFill>
                <a:srgbClr val="94A3B8"/>
              </a:solidFill>
              <a:latin typeface="Inter"/>
            </a:endParaRPr>
          </a:p>
          <a:p>
            <a:pPr algn="l">
              <a:lnSpc>
                <a:spcPts val="1462"/>
              </a:lnSpc>
            </a:pPr>
            <a:r>
              <a:rPr sz="2000" b="0" i="0" u="none" dirty="0" smtClean="0">
                <a:solidFill>
                  <a:srgbClr val="94A3B8"/>
                </a:solidFill>
                <a:latin typeface="Inter"/>
              </a:rPr>
              <a:t>Combinat</a:t>
            </a:r>
            <a:r>
              <a:rPr lang="en-US" sz="2000" b="0" i="0" u="none" dirty="0" smtClean="0">
                <a:solidFill>
                  <a:srgbClr val="94A3B8"/>
                </a:solidFill>
                <a:latin typeface="Inter"/>
              </a:rPr>
              <a:t>ion</a:t>
            </a:r>
          </a:p>
          <a:p>
            <a:pPr algn="l">
              <a:lnSpc>
                <a:spcPts val="1462"/>
              </a:lnSpc>
            </a:pPr>
            <a:endParaRPr lang="en-US" sz="2000" b="0" i="0" u="none" dirty="0" smtClean="0">
              <a:solidFill>
                <a:srgbClr val="94A3B8"/>
              </a:solidFill>
              <a:latin typeface="Inter"/>
            </a:endParaRPr>
          </a:p>
          <a:p>
            <a:pPr algn="l">
              <a:lnSpc>
                <a:spcPts val="1462"/>
              </a:lnSpc>
            </a:pPr>
            <a:r>
              <a:rPr sz="2000" b="0" i="0" u="none" dirty="0" smtClean="0">
                <a:solidFill>
                  <a:srgbClr val="94A3B8"/>
                </a:solidFill>
                <a:latin typeface="Inter"/>
              </a:rPr>
              <a:t>Polynomials</a:t>
            </a:r>
            <a:endParaRPr sz="2000" b="0" i="0" u="none" dirty="0">
              <a:solidFill>
                <a:srgbClr val="94A3B8"/>
              </a:solidFill>
              <a:latin typeface="Inter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15633" y="471049"/>
            <a:ext cx="10113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2"/>
                </a:solidFill>
              </a:rPr>
              <a:t>01</a:t>
            </a:r>
            <a:endParaRPr lang="en-US" dirty="0">
              <a:solidFill>
                <a:schemeClr val="bg2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900">
        <p14:glitter pattern="hexagon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025" y="2471737"/>
            <a:ext cx="5348287" cy="3139354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2688" y="2471737"/>
            <a:ext cx="5348287" cy="31393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81025" y="998401"/>
            <a:ext cx="11581447" cy="4095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50" b="1" i="0" u="none" dirty="0">
                <a:solidFill>
                  <a:srgbClr val="38BDF8"/>
                </a:solidFill>
                <a:latin typeface="Inter"/>
              </a:rPr>
              <a:t>Executive Scope &amp; Objectives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81025" y="990600"/>
            <a:ext cx="11029950" cy="1905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76300" y="2767012"/>
            <a:ext cx="4995624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 u="none" dirty="0">
                <a:solidFill>
                  <a:srgbClr val="38BDF8"/>
                </a:solidFill>
                <a:latin typeface="Inter"/>
              </a:rPr>
              <a:t>Project Philosophy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6300" y="3128962"/>
            <a:ext cx="4757737" cy="6924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endParaRPr lang="en-US" sz="1500" b="0" i="0" u="none" dirty="0" smtClean="0">
              <a:solidFill>
                <a:srgbClr val="CBD5E1"/>
              </a:solidFill>
              <a:latin typeface="Inter"/>
            </a:endParaRPr>
          </a:p>
          <a:p>
            <a:pPr algn="l">
              <a:lnSpc>
                <a:spcPts val="1800"/>
              </a:lnSpc>
            </a:pPr>
            <a:r>
              <a:rPr sz="1500" b="0" i="0" u="none" dirty="0" smtClean="0">
                <a:solidFill>
                  <a:srgbClr val="CBD5E1"/>
                </a:solidFill>
                <a:latin typeface="Inter"/>
              </a:rPr>
              <a:t>▸ </a:t>
            </a:r>
            <a:r>
              <a:rPr sz="1500" b="0" i="0" u="none" dirty="0">
                <a:solidFill>
                  <a:srgbClr val="CBD5E1"/>
                </a:solidFill>
                <a:latin typeface="Inter"/>
              </a:rPr>
              <a:t>Developed as a high-performance console computing suite in ANSI standard C language.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300" y="3700462"/>
            <a:ext cx="4757737" cy="6924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endParaRPr lang="en-US" sz="1500" b="0" i="0" u="none" dirty="0" smtClean="0">
              <a:solidFill>
                <a:srgbClr val="CBD5E1"/>
              </a:solidFill>
              <a:latin typeface="Inter"/>
            </a:endParaRPr>
          </a:p>
          <a:p>
            <a:pPr algn="l">
              <a:lnSpc>
                <a:spcPts val="1800"/>
              </a:lnSpc>
            </a:pPr>
            <a:r>
              <a:rPr sz="1500" b="0" i="0" u="none" dirty="0" smtClean="0">
                <a:solidFill>
                  <a:srgbClr val="CBD5E1"/>
                </a:solidFill>
                <a:latin typeface="Inter"/>
              </a:rPr>
              <a:t>▸ </a:t>
            </a:r>
            <a:r>
              <a:rPr sz="1500" b="0" i="0" u="none" dirty="0">
                <a:solidFill>
                  <a:srgbClr val="CBD5E1"/>
                </a:solidFill>
                <a:latin typeface="Inter"/>
              </a:rPr>
              <a:t>Strict modular division of mathematical responsibility across team members.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6300" y="4271962"/>
            <a:ext cx="4757737" cy="6924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endParaRPr lang="en-US" sz="1500" b="0" i="0" u="none" dirty="0" smtClean="0">
              <a:solidFill>
                <a:srgbClr val="CBD5E1"/>
              </a:solidFill>
              <a:latin typeface="Inter"/>
            </a:endParaRPr>
          </a:p>
          <a:p>
            <a:pPr algn="l">
              <a:lnSpc>
                <a:spcPts val="1800"/>
              </a:lnSpc>
            </a:pPr>
            <a:r>
              <a:rPr sz="1500" b="0" i="0" u="none" dirty="0" smtClean="0">
                <a:solidFill>
                  <a:srgbClr val="CBD5E1"/>
                </a:solidFill>
                <a:latin typeface="Inter"/>
              </a:rPr>
              <a:t>▸ </a:t>
            </a:r>
            <a:r>
              <a:rPr sz="1500" b="0" i="0" u="none" dirty="0">
                <a:solidFill>
                  <a:srgbClr val="CBD5E1"/>
                </a:solidFill>
                <a:latin typeface="Inter"/>
              </a:rPr>
              <a:t>Robust terminal UX featuring automated console resets via custom function pause_and_clear().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57962" y="2767012"/>
            <a:ext cx="4995624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 u="none" dirty="0">
                <a:solidFill>
                  <a:srgbClr val="38BDF8"/>
                </a:solidFill>
                <a:latin typeface="Inter"/>
              </a:rPr>
              <a:t>Core Capabilities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7962" y="3076999"/>
            <a:ext cx="4757737" cy="923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endParaRPr lang="en-US" sz="1500" b="0" i="0" u="none" dirty="0" smtClean="0">
              <a:solidFill>
                <a:srgbClr val="CBD5E1"/>
              </a:solidFill>
              <a:latin typeface="Inter"/>
            </a:endParaRPr>
          </a:p>
          <a:p>
            <a:pPr algn="l">
              <a:lnSpc>
                <a:spcPts val="1800"/>
              </a:lnSpc>
            </a:pPr>
            <a:r>
              <a:rPr sz="1500" b="0" i="0" u="none" dirty="0" smtClean="0">
                <a:solidFill>
                  <a:srgbClr val="CBD5E1"/>
                </a:solidFill>
                <a:latin typeface="Inter"/>
              </a:rPr>
              <a:t>▸ </a:t>
            </a:r>
            <a:r>
              <a:rPr sz="1500" b="0" i="0" u="none" dirty="0">
                <a:solidFill>
                  <a:srgbClr val="CBD5E1"/>
                </a:solidFill>
                <a:latin typeface="Inter"/>
              </a:rPr>
              <a:t>Integrated error mitigation for standard edge cases (division by zero, matrix dimensions, logarithmic domains).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7962" y="3745487"/>
            <a:ext cx="4757737" cy="923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endParaRPr lang="en-US" sz="1500" b="0" i="0" u="none" dirty="0" smtClean="0">
              <a:solidFill>
                <a:srgbClr val="CBD5E1"/>
              </a:solidFill>
              <a:latin typeface="Inter"/>
            </a:endParaRPr>
          </a:p>
          <a:p>
            <a:pPr algn="l">
              <a:lnSpc>
                <a:spcPts val="1800"/>
              </a:lnSpc>
            </a:pPr>
            <a:endParaRPr lang="en-US" sz="1500" b="0" i="0" u="none" dirty="0" smtClean="0">
              <a:solidFill>
                <a:srgbClr val="CBD5E1"/>
              </a:solidFill>
              <a:latin typeface="Inter"/>
            </a:endParaRPr>
          </a:p>
          <a:p>
            <a:pPr algn="l">
              <a:lnSpc>
                <a:spcPts val="1800"/>
              </a:lnSpc>
            </a:pPr>
            <a:r>
              <a:rPr sz="1500" b="0" i="0" u="none" dirty="0" smtClean="0">
                <a:solidFill>
                  <a:srgbClr val="CBD5E1"/>
                </a:solidFill>
                <a:latin typeface="Inter"/>
              </a:rPr>
              <a:t>▸ </a:t>
            </a:r>
            <a:r>
              <a:rPr sz="1500" b="0" i="0" u="none" dirty="0">
                <a:solidFill>
                  <a:srgbClr val="CBD5E1"/>
                </a:solidFill>
                <a:latin typeface="Inter"/>
              </a:rPr>
              <a:t>Seamless runtime re-execution loop eliminating forced application restarts.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0580" y="332509"/>
            <a:ext cx="6934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2"/>
                </a:solidFill>
              </a:rPr>
              <a:t>02</a:t>
            </a:r>
            <a:endParaRPr lang="en-US" dirty="0">
              <a:solidFill>
                <a:schemeClr val="bg2"/>
              </a:solidFill>
            </a:endParaRPr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96982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025" y="2996924"/>
            <a:ext cx="3517850" cy="2849707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7000" y="2969207"/>
            <a:ext cx="3517850" cy="2849706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2975" y="2941498"/>
            <a:ext cx="3517850" cy="284970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81025" y="942982"/>
            <a:ext cx="11581447" cy="4095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50" b="1" i="0" u="none" dirty="0">
                <a:solidFill>
                  <a:srgbClr val="38BDF8"/>
                </a:solidFill>
                <a:latin typeface="Inter"/>
              </a:rPr>
              <a:t>System Control &amp; Execution Flow</a:t>
            </a:r>
          </a:p>
        </p:txBody>
      </p:sp>
      <p:sp>
        <p:nvSpPr>
          <p:cNvPr id="7" name="Rectangle 6"/>
          <p:cNvSpPr/>
          <p:nvPr/>
        </p:nvSpPr>
        <p:spPr>
          <a:xfrm>
            <a:off x="581025" y="990600"/>
            <a:ext cx="11029950" cy="1905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8675" y="3820397"/>
            <a:ext cx="3173677" cy="3231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 u="none" dirty="0">
                <a:solidFill>
                  <a:srgbClr val="F1F5F9"/>
                </a:solidFill>
                <a:latin typeface="Inter"/>
              </a:rPr>
              <a:t>1. Interactive Loop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8675" y="4265479"/>
            <a:ext cx="3022550" cy="11541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endParaRPr lang="en-US" sz="1500" b="0" i="0" u="none" dirty="0" smtClean="0">
              <a:solidFill>
                <a:srgbClr val="CBD5E1"/>
              </a:solidFill>
              <a:latin typeface="Inter"/>
            </a:endParaRPr>
          </a:p>
          <a:p>
            <a:pPr algn="l">
              <a:lnSpc>
                <a:spcPts val="1800"/>
              </a:lnSpc>
            </a:pPr>
            <a:r>
              <a:rPr sz="1500" b="0" i="0" u="none" dirty="0" smtClean="0">
                <a:solidFill>
                  <a:srgbClr val="CBD5E1"/>
                </a:solidFill>
                <a:latin typeface="Inter"/>
              </a:rPr>
              <a:t>Main menu presents categorized options. Controlled by global variable rerun_program to keep user inside current module.</a:t>
            </a:r>
            <a:endParaRPr sz="1500" b="0" i="0" u="none" dirty="0">
              <a:solidFill>
                <a:srgbClr val="CBD5E1"/>
              </a:solidFill>
              <a:latin typeface="Inter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584650" y="3778834"/>
            <a:ext cx="3173677" cy="3231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 u="none" dirty="0">
                <a:solidFill>
                  <a:srgbClr val="F1F5F9"/>
                </a:solidFill>
                <a:latin typeface="Inter"/>
              </a:rPr>
              <a:t>2. Domain Checks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84650" y="4293176"/>
            <a:ext cx="3022550" cy="11541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endParaRPr lang="en-US" sz="1500" b="0" i="0" u="none" dirty="0" smtClean="0">
              <a:solidFill>
                <a:srgbClr val="CBD5E1"/>
              </a:solidFill>
              <a:latin typeface="Inter"/>
            </a:endParaRPr>
          </a:p>
          <a:p>
            <a:pPr algn="l">
              <a:lnSpc>
                <a:spcPts val="1800"/>
              </a:lnSpc>
            </a:pPr>
            <a:r>
              <a:rPr lang="en-US" sz="1500" b="0" i="0" u="none" dirty="0" smtClean="0">
                <a:solidFill>
                  <a:srgbClr val="CBD5E1"/>
                </a:solidFill>
                <a:latin typeface="Inter"/>
              </a:rPr>
              <a:t>I</a:t>
            </a:r>
            <a:r>
              <a:rPr sz="1500" b="0" i="0" u="none" dirty="0" smtClean="0">
                <a:solidFill>
                  <a:srgbClr val="CBD5E1"/>
                </a:solidFill>
                <a:latin typeface="Inter"/>
              </a:rPr>
              <a:t>nputs </a:t>
            </a:r>
            <a:r>
              <a:rPr sz="1500" b="0" i="0" u="none" dirty="0">
                <a:solidFill>
                  <a:srgbClr val="CBD5E1"/>
                </a:solidFill>
                <a:latin typeface="Inter"/>
              </a:rPr>
              <a:t>validated prior to math execution (e.g. verifying non-negative square roots or determinant non-zero for inverses).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40625" y="3764980"/>
            <a:ext cx="3173677" cy="3231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 u="none" dirty="0">
                <a:solidFill>
                  <a:srgbClr val="F1F5F9"/>
                </a:solidFill>
                <a:latin typeface="Inter"/>
              </a:rPr>
              <a:t>3. Screen Buffer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40625" y="4237763"/>
            <a:ext cx="3022550" cy="11541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endParaRPr lang="en-US" sz="1500" b="0" i="0" u="none" dirty="0" smtClean="0">
              <a:solidFill>
                <a:srgbClr val="CBD5E1"/>
              </a:solidFill>
              <a:latin typeface="Inter"/>
            </a:endParaRPr>
          </a:p>
          <a:p>
            <a:pPr algn="l">
              <a:lnSpc>
                <a:spcPts val="1800"/>
              </a:lnSpc>
            </a:pPr>
            <a:r>
              <a:rPr sz="1500" b="0" i="0" u="none" dirty="0" smtClean="0">
                <a:solidFill>
                  <a:srgbClr val="CBD5E1"/>
                </a:solidFill>
                <a:latin typeface="Inter"/>
              </a:rPr>
              <a:t>Custom </a:t>
            </a:r>
            <a:r>
              <a:rPr sz="1500" b="0" i="0" u="none" dirty="0">
                <a:solidFill>
                  <a:srgbClr val="CBD5E1"/>
                </a:solidFill>
                <a:latin typeface="Inter"/>
              </a:rPr>
              <a:t>control logic pauses terminal output for result inspection before clearing buffer for subsequent operations.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8675" y="3185685"/>
            <a:ext cx="390525" cy="34290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84650" y="3171831"/>
            <a:ext cx="342900" cy="34290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40625" y="3199542"/>
            <a:ext cx="342900" cy="3429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 flipH="1">
            <a:off x="581025" y="152400"/>
            <a:ext cx="10538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2"/>
                </a:solidFill>
              </a:rPr>
              <a:t>03</a:t>
            </a:r>
            <a:endParaRPr lang="en-US" dirty="0">
              <a:solidFill>
                <a:schemeClr val="bg2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28675" y="1620982"/>
            <a:ext cx="81213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i="1" dirty="0" smtClean="0">
                <a:solidFill>
                  <a:srgbClr val="38BDF8"/>
                </a:solidFill>
              </a:rPr>
              <a:t>Code merged and managed by Prithu</a:t>
            </a:r>
            <a:endParaRPr lang="en-US" sz="2000" b="1" i="1" dirty="0">
              <a:solidFill>
                <a:srgbClr val="38BDF8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23937" y="2119745"/>
            <a:ext cx="5473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 smtClean="0">
                <a:solidFill>
                  <a:srgbClr val="38BDF8"/>
                </a:solidFill>
              </a:rPr>
              <a:t>Below functionalities are added by Prithu</a:t>
            </a:r>
            <a:endParaRPr lang="en-US" b="1" i="1" dirty="0">
              <a:solidFill>
                <a:srgbClr val="38BDF8"/>
              </a:solidFill>
            </a:endParaRPr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509" y="4486289"/>
            <a:ext cx="5596803" cy="51831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2509" y="5138312"/>
            <a:ext cx="5250873" cy="55616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2687" y="2000250"/>
            <a:ext cx="5348287" cy="3619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81025" y="929125"/>
            <a:ext cx="11581447" cy="4095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50" b="1" i="0" u="none" dirty="0">
                <a:solidFill>
                  <a:srgbClr val="38BDF8"/>
                </a:solidFill>
                <a:latin typeface="Inter"/>
              </a:rPr>
              <a:t>Technical Stack &amp; Data Types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81025" y="990600"/>
            <a:ext cx="11029950" cy="1905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81025" y="1930975"/>
            <a:ext cx="5615701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 u="none" dirty="0">
                <a:solidFill>
                  <a:srgbClr val="F1F5F9"/>
                </a:solidFill>
                <a:latin typeface="Inter"/>
              </a:rPr>
              <a:t>Language &amp; Environment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1025" y="2528457"/>
            <a:ext cx="5348287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0" i="0" u="none" dirty="0" smtClean="0">
                <a:solidFill>
                  <a:srgbClr val="CBD5E1"/>
                </a:solidFill>
                <a:latin typeface="Inter"/>
              </a:rPr>
              <a:t>▸ </a:t>
            </a:r>
            <a:r>
              <a:rPr sz="1500" b="1" i="0" u="none" dirty="0">
                <a:solidFill>
                  <a:srgbClr val="CBD5E1"/>
                </a:solidFill>
                <a:latin typeface="Inter"/>
              </a:rPr>
              <a:t>Standard:</a:t>
            </a:r>
            <a:r>
              <a:rPr sz="1500" b="0" i="0" u="none" dirty="0">
                <a:solidFill>
                  <a:srgbClr val="CBD5E1"/>
                </a:solidFill>
                <a:latin typeface="Inter"/>
              </a:rPr>
              <a:t> C Language (ANSI C / C99)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1025" y="2874822"/>
            <a:ext cx="5348287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0" i="0" u="none" dirty="0" smtClean="0">
                <a:solidFill>
                  <a:srgbClr val="CBD5E1"/>
                </a:solidFill>
                <a:latin typeface="Inter"/>
              </a:rPr>
              <a:t>▸ </a:t>
            </a:r>
            <a:r>
              <a:rPr sz="1500" b="1" i="0" u="none" dirty="0">
                <a:solidFill>
                  <a:srgbClr val="CBD5E1"/>
                </a:solidFill>
                <a:latin typeface="Inter"/>
              </a:rPr>
              <a:t>Compiler &amp; IDE:</a:t>
            </a:r>
            <a:r>
              <a:rPr sz="1500" b="0" i="0" u="none" dirty="0">
                <a:solidFill>
                  <a:srgbClr val="CBD5E1"/>
                </a:solidFill>
                <a:latin typeface="Inter"/>
              </a:rPr>
              <a:t> GCC Compiler (Code::Blocks / MinGW)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065" y="3254965"/>
            <a:ext cx="5414248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0" i="0" u="none" dirty="0" smtClean="0">
                <a:solidFill>
                  <a:srgbClr val="CBD5E1"/>
                </a:solidFill>
                <a:latin typeface="Inter"/>
              </a:rPr>
              <a:t> </a:t>
            </a:r>
            <a:r>
              <a:rPr sz="1500" b="0" i="0" u="none" dirty="0" smtClean="0">
                <a:solidFill>
                  <a:srgbClr val="CBD5E1"/>
                </a:solidFill>
                <a:latin typeface="Inter"/>
              </a:rPr>
              <a:t>▸ </a:t>
            </a:r>
            <a:r>
              <a:rPr sz="1500" b="1" i="0" u="none" dirty="0">
                <a:solidFill>
                  <a:srgbClr val="CBD5E1"/>
                </a:solidFill>
                <a:latin typeface="Inter"/>
              </a:rPr>
              <a:t>Header Libraries:</a:t>
            </a:r>
            <a:r>
              <a:rPr sz="1500" b="0" i="0" u="none" dirty="0">
                <a:solidFill>
                  <a:srgbClr val="CBD5E1"/>
                </a:solidFill>
                <a:latin typeface="Inter"/>
              </a:rPr>
              <a:t> stdio.h, math.h, stdlib.h, string.h, ctype.h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1025" y="3833380"/>
            <a:ext cx="5615701" cy="3847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00" b="1" i="0" u="none" dirty="0" smtClean="0">
                <a:solidFill>
                  <a:srgbClr val="F1F5F9"/>
                </a:solidFill>
                <a:latin typeface="Inter"/>
              </a:rPr>
              <a:t>Custom </a:t>
            </a:r>
            <a:r>
              <a:rPr sz="2500" b="1" i="0" u="none" dirty="0">
                <a:solidFill>
                  <a:srgbClr val="F1F5F9"/>
                </a:solidFill>
                <a:latin typeface="Inter"/>
              </a:rPr>
              <a:t>Data Types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72212" y="2009775"/>
            <a:ext cx="5329237" cy="360045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 flipH="1">
            <a:off x="515065" y="128275"/>
            <a:ext cx="8980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2"/>
                </a:solidFill>
              </a:rPr>
              <a:t>04</a:t>
            </a:r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025" y="2409825"/>
            <a:ext cx="5348287" cy="418493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2687" y="2409825"/>
            <a:ext cx="5348287" cy="41849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81025" y="942984"/>
            <a:ext cx="11581447" cy="4095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50" b="1" i="0" u="none" dirty="0">
                <a:solidFill>
                  <a:srgbClr val="38BDF8"/>
                </a:solidFill>
                <a:latin typeface="Inter"/>
              </a:rPr>
              <a:t>Exponents &amp; 3D Vector Engine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81025" y="990600"/>
            <a:ext cx="11029950" cy="1905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81025" y="1678134"/>
            <a:ext cx="11029950" cy="2315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2000" b="1" i="0" u="none" dirty="0">
                <a:solidFill>
                  <a:srgbClr val="38BDF8"/>
                </a:solidFill>
                <a:latin typeface="Inter SemiBold"/>
              </a:rPr>
              <a:t>Module Lead: Prithu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965" y="2532780"/>
            <a:ext cx="5095636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u="none" dirty="0">
                <a:solidFill>
                  <a:srgbClr val="38BDF8"/>
                </a:solidFill>
                <a:latin typeface="Inter"/>
              </a:rPr>
              <a:t>Power &amp; Root Operations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8675" y="3019425"/>
            <a:ext cx="4852987" cy="238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▸ Standard exponentiation powered by pow(x, y).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8675" y="3524252"/>
            <a:ext cx="4852987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▸ Square root calculation with zero validation: sqrt(x) for x &gt;= 0.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8675" y="4170222"/>
            <a:ext cx="4852987" cy="238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▸ Cube root calculation: cbrt(x) for real numbers.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675" y="4633482"/>
            <a:ext cx="4852987" cy="923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▸ Nth Root calculation using fractional exponentiation: pow(a, 1.0 / b</a:t>
            </a:r>
            <a:r>
              <a:rPr sz="1700" b="0" i="0" u="none" dirty="0" smtClean="0">
                <a:solidFill>
                  <a:srgbClr val="CBD5E1"/>
                </a:solidFill>
                <a:latin typeface="Inter"/>
              </a:rPr>
              <a:t>).</a:t>
            </a:r>
            <a:endParaRPr lang="en-US" sz="1700" b="0" i="0" u="none" dirty="0" smtClean="0">
              <a:solidFill>
                <a:srgbClr val="CBD5E1"/>
              </a:solidFill>
              <a:latin typeface="Inter"/>
            </a:endParaRPr>
          </a:p>
          <a:p>
            <a:pPr algn="l">
              <a:lnSpc>
                <a:spcPts val="1800"/>
              </a:lnSpc>
            </a:pPr>
            <a:r>
              <a:rPr lang="en-US" sz="1700" dirty="0" smtClean="0">
                <a:solidFill>
                  <a:srgbClr val="CBD5E1"/>
                </a:solidFill>
                <a:latin typeface="Inter"/>
              </a:rPr>
              <a:t>N.B. there is no n-</a:t>
            </a:r>
            <a:r>
              <a:rPr lang="en-US" sz="1700" dirty="0" err="1" smtClean="0">
                <a:solidFill>
                  <a:srgbClr val="CBD5E1"/>
                </a:solidFill>
                <a:latin typeface="Inter"/>
              </a:rPr>
              <a:t>th</a:t>
            </a:r>
            <a:r>
              <a:rPr lang="en-US" sz="1700" dirty="0" smtClean="0">
                <a:solidFill>
                  <a:srgbClr val="CBD5E1"/>
                </a:solidFill>
                <a:latin typeface="Inter"/>
              </a:rPr>
              <a:t> root for imaginary numbers in this calculator</a:t>
            </a:r>
            <a:endParaRPr sz="1700" b="0" i="0" u="none" dirty="0">
              <a:solidFill>
                <a:srgbClr val="CBD5E1"/>
              </a:solidFill>
              <a:latin typeface="Inter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510337" y="2657475"/>
            <a:ext cx="5095636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u="none" dirty="0">
                <a:solidFill>
                  <a:srgbClr val="38BDF8"/>
                </a:solidFill>
                <a:latin typeface="Inter"/>
              </a:rPr>
              <a:t>3D Vector Operations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0337" y="3102555"/>
            <a:ext cx="4852987" cy="4667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▸ Custom component array type: typedef double vector[3] representing [</a:t>
            </a:r>
            <a:r>
              <a:rPr sz="1700" b="0" i="0" u="none" dirty="0" err="1">
                <a:solidFill>
                  <a:srgbClr val="CBD5E1"/>
                </a:solidFill>
                <a:latin typeface="Inter"/>
              </a:rPr>
              <a:t>i</a:t>
            </a:r>
            <a:r>
              <a:rPr sz="1700" b="0" i="0" u="none" dirty="0">
                <a:solidFill>
                  <a:srgbClr val="CBD5E1"/>
                </a:solidFill>
                <a:latin typeface="Inter"/>
              </a:rPr>
              <a:t>, j, k].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337" y="3739000"/>
            <a:ext cx="485298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▸ </a:t>
            </a:r>
            <a:r>
              <a:rPr sz="1700" b="1" i="0" u="none" dirty="0">
                <a:solidFill>
                  <a:srgbClr val="CBD5E1"/>
                </a:solidFill>
                <a:latin typeface="Inter"/>
              </a:rPr>
              <a:t>Vector Addition / Subtraction:</a:t>
            </a:r>
            <a:r>
              <a:rPr sz="1700" b="0" i="0" u="none" dirty="0">
                <a:solidFill>
                  <a:srgbClr val="CBD5E1"/>
                </a:solidFill>
                <a:latin typeface="Inter"/>
              </a:rPr>
              <a:t> Component-wise element evaluation.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337" y="4393628"/>
            <a:ext cx="4852987" cy="6924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▸ </a:t>
            </a:r>
            <a:r>
              <a:rPr sz="1700" b="1" i="0" u="none" dirty="0">
                <a:solidFill>
                  <a:srgbClr val="CBD5E1"/>
                </a:solidFill>
                <a:latin typeface="Inter"/>
              </a:rPr>
              <a:t>Dot Product:</a:t>
            </a:r>
            <a:r>
              <a:rPr sz="1700" b="0" i="0" u="none" dirty="0">
                <a:solidFill>
                  <a:srgbClr val="CBD5E1"/>
                </a:solidFill>
                <a:latin typeface="Inter"/>
              </a:rPr>
              <a:t> Scalar output calculation: </a:t>
            </a:r>
            <a:endParaRPr lang="en-US" sz="1700" b="0" i="0" u="none" dirty="0" smtClean="0">
              <a:solidFill>
                <a:srgbClr val="CBD5E1"/>
              </a:solidFill>
              <a:latin typeface="Inter"/>
            </a:endParaRPr>
          </a:p>
          <a:p>
            <a:pPr algn="l">
              <a:lnSpc>
                <a:spcPts val="1800"/>
              </a:lnSpc>
            </a:pPr>
            <a:endParaRPr lang="en-US" sz="1700" b="0" i="0" u="none" dirty="0" smtClean="0">
              <a:solidFill>
                <a:srgbClr val="CBD5E1"/>
              </a:solidFill>
              <a:latin typeface="Inter"/>
            </a:endParaRPr>
          </a:p>
          <a:p>
            <a:pPr algn="l">
              <a:lnSpc>
                <a:spcPts val="1800"/>
              </a:lnSpc>
            </a:pPr>
            <a:r>
              <a:rPr sz="1700" b="1" i="0" u="none" dirty="0" smtClean="0">
                <a:solidFill>
                  <a:schemeClr val="tx2">
                    <a:lumMod val="60000"/>
                    <a:lumOff val="40000"/>
                  </a:schemeClr>
                </a:solidFill>
                <a:latin typeface="Inter"/>
              </a:rPr>
              <a:t>v1[0</a:t>
            </a:r>
            <a:r>
              <a:rPr sz="1700" b="1" i="0" u="none" dirty="0">
                <a:solidFill>
                  <a:schemeClr val="tx2">
                    <a:lumMod val="60000"/>
                    <a:lumOff val="40000"/>
                  </a:schemeClr>
                </a:solidFill>
                <a:latin typeface="Inter"/>
              </a:rPr>
              <a:t>]*v2[0] + v1[1]*v2[1] + v1[2]*v2[2].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0337" y="5302841"/>
            <a:ext cx="485298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▸ </a:t>
            </a:r>
            <a:r>
              <a:rPr sz="1700" b="1" i="0" u="none" dirty="0">
                <a:solidFill>
                  <a:srgbClr val="CBD5E1"/>
                </a:solidFill>
                <a:latin typeface="Inter"/>
              </a:rPr>
              <a:t>Cross Product:</a:t>
            </a:r>
            <a:r>
              <a:rPr sz="1700" b="0" i="0" u="none" dirty="0">
                <a:solidFill>
                  <a:srgbClr val="CBD5E1"/>
                </a:solidFill>
                <a:latin typeface="Inter"/>
              </a:rPr>
              <a:t> Computes 3D orthogonal vector product via determinant formulation.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7091" y="84002"/>
            <a:ext cx="7086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2"/>
                </a:solidFill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02" y="5566080"/>
            <a:ext cx="4556122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solidFill>
                  <a:schemeClr val="bg1"/>
                </a:solidFill>
                <a:latin typeface="Inter"/>
              </a:rPr>
              <a:t>▸Handles </a:t>
            </a:r>
            <a:r>
              <a:rPr lang="en-US" sz="1700" dirty="0" smtClean="0">
                <a:solidFill>
                  <a:schemeClr val="bg1"/>
                </a:solidFill>
                <a:latin typeface="Inter"/>
              </a:rPr>
              <a:t>imaginary numbers by detecting        “ </a:t>
            </a:r>
            <a:r>
              <a:rPr lang="en-US" sz="1700" dirty="0" err="1" smtClean="0">
                <a:solidFill>
                  <a:schemeClr val="bg1"/>
                </a:solidFill>
                <a:latin typeface="Inter"/>
              </a:rPr>
              <a:t>i</a:t>
            </a:r>
            <a:r>
              <a:rPr lang="en-US" sz="1700" dirty="0" smtClean="0">
                <a:solidFill>
                  <a:schemeClr val="bg1"/>
                </a:solidFill>
                <a:latin typeface="Inter"/>
              </a:rPr>
              <a:t> “   in user input</a:t>
            </a:r>
            <a:endParaRPr lang="en-US" sz="1700" dirty="0">
              <a:solidFill>
                <a:schemeClr val="bg1"/>
              </a:solidFill>
              <a:latin typeface="Inter"/>
            </a:endParaRPr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345" y="3081337"/>
            <a:ext cx="3333750" cy="18288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5410" y="2258291"/>
            <a:ext cx="8021790" cy="42810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81025" y="1053814"/>
            <a:ext cx="11581447" cy="4095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50" b="1" i="0" u="none" dirty="0">
                <a:solidFill>
                  <a:srgbClr val="38BDF8"/>
                </a:solidFill>
                <a:latin typeface="Inter"/>
              </a:rPr>
              <a:t>Linear Algebra Matrix Engine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81025" y="990600"/>
            <a:ext cx="11029950" cy="1905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81025" y="1768188"/>
            <a:ext cx="11029950" cy="2315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2000" b="1" i="0" u="none" dirty="0">
                <a:solidFill>
                  <a:srgbClr val="38BDF8"/>
                </a:solidFill>
                <a:latin typeface="Inter SemiBold"/>
              </a:rPr>
              <a:t>Module Lead: Prithu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3950" y="3471862"/>
            <a:ext cx="2933700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6000"/>
              </a:lnSpc>
            </a:pPr>
            <a:r>
              <a:rPr sz="6000" b="1" i="0" u="none" dirty="0">
                <a:solidFill>
                  <a:srgbClr val="38BDF8"/>
                </a:solidFill>
                <a:latin typeface="Fira Code"/>
              </a:rPr>
              <a:t>10x10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1660" y="4329112"/>
            <a:ext cx="293370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u="none" dirty="0">
                <a:solidFill>
                  <a:srgbClr val="94A3B8"/>
                </a:solidFill>
                <a:latin typeface="Inter SemiBold"/>
              </a:rPr>
              <a:t>Maximum Dynamic Matrix Size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43425" y="2678254"/>
            <a:ext cx="7160895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u="none" dirty="0">
                <a:solidFill>
                  <a:srgbClr val="38BDF8"/>
                </a:solidFill>
                <a:latin typeface="Inter"/>
              </a:rPr>
              <a:t>Supported Operations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52440" y="3261880"/>
            <a:ext cx="7558535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▸ </a:t>
            </a:r>
            <a:r>
              <a:rPr sz="1700" b="1" i="0" u="none" dirty="0">
                <a:solidFill>
                  <a:srgbClr val="CBD5E1"/>
                </a:solidFill>
                <a:latin typeface="Inter"/>
              </a:rPr>
              <a:t>Addition &amp; Subtraction:</a:t>
            </a:r>
            <a:r>
              <a:rPr sz="1700" b="0" i="0" u="none" dirty="0">
                <a:solidFill>
                  <a:srgbClr val="CBD5E1"/>
                </a:solidFill>
                <a:latin typeface="Inter"/>
              </a:rPr>
              <a:t> Validates equal dimensions r1 == r2 &amp;&amp; c1 == c2.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52440" y="3766710"/>
            <a:ext cx="7558535" cy="4667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700" b="0" i="0" u="none" dirty="0" smtClean="0">
                <a:solidFill>
                  <a:srgbClr val="CBD5E1"/>
                </a:solidFill>
                <a:latin typeface="Inter"/>
              </a:rPr>
              <a:t>▸ </a:t>
            </a:r>
            <a:r>
              <a:rPr sz="1700" b="1" i="0" u="none" dirty="0">
                <a:solidFill>
                  <a:srgbClr val="CBD5E1"/>
                </a:solidFill>
                <a:latin typeface="Inter"/>
              </a:rPr>
              <a:t>Matrix Multiplication:</a:t>
            </a:r>
            <a:r>
              <a:rPr sz="1700" b="0" i="0" u="none" dirty="0">
                <a:solidFill>
                  <a:srgbClr val="CBD5E1"/>
                </a:solidFill>
                <a:latin typeface="Inter"/>
              </a:rPr>
              <a:t> Validates compatible inner dimensions via helper </a:t>
            </a:r>
            <a:r>
              <a:rPr sz="1700" b="1" i="1" u="none" dirty="0" smtClean="0">
                <a:solidFill>
                  <a:srgbClr val="CBD5E1"/>
                </a:solidFill>
                <a:latin typeface="Inter"/>
              </a:rPr>
              <a:t>valid_dimension_to_multiply(col1</a:t>
            </a:r>
            <a:r>
              <a:rPr sz="1700" b="1" i="1" u="none" dirty="0">
                <a:solidFill>
                  <a:srgbClr val="CBD5E1"/>
                </a:solidFill>
                <a:latin typeface="Inter"/>
              </a:rPr>
              <a:t>, row2).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52440" y="4472426"/>
            <a:ext cx="765188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▸ </a:t>
            </a:r>
            <a:r>
              <a:rPr sz="1700" b="1" i="0" u="none" dirty="0">
                <a:solidFill>
                  <a:srgbClr val="CBD5E1"/>
                </a:solidFill>
                <a:latin typeface="Inter"/>
              </a:rPr>
              <a:t>Determinant Solver:</a:t>
            </a:r>
            <a:r>
              <a:rPr sz="1700" b="0" i="0" u="none" dirty="0">
                <a:solidFill>
                  <a:srgbClr val="CBD5E1"/>
                </a:solidFill>
                <a:latin typeface="Inter"/>
              </a:rPr>
              <a:t> Recursive Laplace expansion algorithm using helper function </a:t>
            </a:r>
            <a:r>
              <a:rPr sz="1700" b="1" i="1" u="none" dirty="0">
                <a:solidFill>
                  <a:schemeClr val="accent3">
                    <a:lumMod val="75000"/>
                  </a:schemeClr>
                </a:solidFill>
                <a:latin typeface="Inter"/>
              </a:rPr>
              <a:t>get_submatrix().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2440" y="5191993"/>
            <a:ext cx="765188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▸ </a:t>
            </a:r>
            <a:r>
              <a:rPr sz="1700" b="1" i="0" u="none" dirty="0">
                <a:solidFill>
                  <a:srgbClr val="CBD5E1"/>
                </a:solidFill>
                <a:latin typeface="Inter"/>
              </a:rPr>
              <a:t>Matrix Inversion:</a:t>
            </a:r>
            <a:r>
              <a:rPr sz="1700" b="0" i="0" u="none" dirty="0">
                <a:solidFill>
                  <a:srgbClr val="CBD5E1"/>
                </a:solidFill>
                <a:latin typeface="Inter"/>
              </a:rPr>
              <a:t> Solved via cofactor matrix and determinant verification.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5528" y="195698"/>
            <a:ext cx="11499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2"/>
                </a:solidFill>
              </a:rPr>
              <a:t>06</a:t>
            </a:r>
            <a:endParaRPr lang="en-US" dirty="0">
              <a:solidFill>
                <a:schemeClr val="bg2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052440" y="5604167"/>
            <a:ext cx="7169742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 smtClean="0">
                <a:solidFill>
                  <a:srgbClr val="CBD5E1"/>
                </a:solidFill>
                <a:latin typeface="Inter"/>
              </a:rPr>
              <a:t>▸</a:t>
            </a:r>
            <a:r>
              <a:rPr lang="en-US" sz="1700" b="1" dirty="0" smtClean="0">
                <a:solidFill>
                  <a:srgbClr val="CBD5E1"/>
                </a:solidFill>
                <a:latin typeface="Inter"/>
              </a:rPr>
              <a:t>Additional helper functions:</a:t>
            </a:r>
            <a:r>
              <a:rPr lang="en-US" sz="1700" dirty="0" smtClean="0">
                <a:solidFill>
                  <a:srgbClr val="CBD5E1"/>
                </a:solidFill>
                <a:latin typeface="Inter"/>
              </a:rPr>
              <a:t> input_matrix(),  print_matrix()</a:t>
            </a:r>
            <a:endParaRPr lang="en-US" sz="17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855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025" y="2652712"/>
            <a:ext cx="5348287" cy="323547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2687" y="2652712"/>
            <a:ext cx="5348287" cy="32354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81025" y="956837"/>
            <a:ext cx="11581447" cy="4095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50" b="1" i="0" u="none" dirty="0">
                <a:solidFill>
                  <a:srgbClr val="38BDF8"/>
                </a:solidFill>
                <a:latin typeface="Inter"/>
              </a:rPr>
              <a:t>Arithmetic &amp; Logarithmic Engine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81025" y="990600"/>
            <a:ext cx="11029950" cy="1905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81025" y="1727048"/>
            <a:ext cx="11029950" cy="2315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2000" b="1" i="0" u="none" dirty="0">
                <a:solidFill>
                  <a:srgbClr val="38BDF8"/>
                </a:solidFill>
                <a:latin typeface="Inter SemiBold"/>
              </a:rPr>
              <a:t>Module Lead: Tahmid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6300" y="2947987"/>
            <a:ext cx="4995624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u="none" dirty="0">
                <a:solidFill>
                  <a:srgbClr val="38BDF8"/>
                </a:solidFill>
                <a:latin typeface="Inter"/>
              </a:rPr>
              <a:t>Arithmetic Module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300" y="3379212"/>
            <a:ext cx="4757737" cy="6924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▸ </a:t>
            </a:r>
            <a:r>
              <a:rPr sz="1700" b="1" i="0" u="none" dirty="0">
                <a:solidFill>
                  <a:srgbClr val="CBD5E1"/>
                </a:solidFill>
                <a:latin typeface="Inter"/>
              </a:rPr>
              <a:t>Basic Operations:</a:t>
            </a:r>
            <a:r>
              <a:rPr sz="1700" b="0" i="0" u="none" dirty="0">
                <a:solidFill>
                  <a:srgbClr val="CBD5E1"/>
                </a:solidFill>
                <a:latin typeface="Inter"/>
              </a:rPr>
              <a:t> </a:t>
            </a:r>
            <a:r>
              <a:rPr sz="1700" b="1" i="0" u="none" dirty="0">
                <a:solidFill>
                  <a:srgbClr val="CBD5E1"/>
                </a:solidFill>
                <a:latin typeface="Inter"/>
              </a:rPr>
              <a:t>Addition, Subtraction, Multiplication</a:t>
            </a:r>
            <a:r>
              <a:rPr sz="1700" b="0" i="0" u="none" dirty="0">
                <a:solidFill>
                  <a:srgbClr val="CBD5E1"/>
                </a:solidFill>
                <a:latin typeface="Inter"/>
              </a:rPr>
              <a:t> with double precision floating point.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6300" y="4241666"/>
            <a:ext cx="4757737" cy="476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▸ </a:t>
            </a:r>
            <a:r>
              <a:rPr sz="1700" b="1" i="0" u="none" dirty="0">
                <a:solidFill>
                  <a:srgbClr val="CBD5E1"/>
                </a:solidFill>
                <a:latin typeface="Inter"/>
              </a:rPr>
              <a:t>Division:</a:t>
            </a:r>
            <a:r>
              <a:rPr sz="1700" b="0" i="0" u="none" dirty="0">
                <a:solidFill>
                  <a:srgbClr val="CBD5E1"/>
                </a:solidFill>
                <a:latin typeface="Inter"/>
              </a:rPr>
              <a:t> Zero-denominator validation prior to computation: b != 0.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6300" y="4901487"/>
            <a:ext cx="475773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▸ </a:t>
            </a:r>
            <a:r>
              <a:rPr sz="1700" b="1" i="0" u="none" dirty="0">
                <a:solidFill>
                  <a:srgbClr val="CBD5E1"/>
                </a:solidFill>
                <a:latin typeface="Inter"/>
              </a:rPr>
              <a:t>Modulus:</a:t>
            </a:r>
            <a:r>
              <a:rPr sz="1700" b="0" i="0" u="none" dirty="0">
                <a:solidFill>
                  <a:srgbClr val="CBD5E1"/>
                </a:solidFill>
                <a:latin typeface="Inter"/>
              </a:rPr>
              <a:t> Handles floating point and integer conversion for integer remainder calculation.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7962" y="2947987"/>
            <a:ext cx="4995624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u="none" dirty="0">
                <a:solidFill>
                  <a:srgbClr val="38BDF8"/>
                </a:solidFill>
                <a:latin typeface="Inter"/>
              </a:rPr>
              <a:t>Logarithm Module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7962" y="3393067"/>
            <a:ext cx="4757737" cy="4667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▸ </a:t>
            </a:r>
            <a:r>
              <a:rPr sz="1700" b="1" i="0" u="none" dirty="0">
                <a:solidFill>
                  <a:srgbClr val="CBD5E1"/>
                </a:solidFill>
                <a:latin typeface="Inter"/>
              </a:rPr>
              <a:t>Common Logarithm:</a:t>
            </a:r>
            <a:r>
              <a:rPr sz="1700" b="0" i="0" u="none" dirty="0">
                <a:solidFill>
                  <a:srgbClr val="CBD5E1"/>
                </a:solidFill>
                <a:latin typeface="Inter"/>
              </a:rPr>
              <a:t> Standard base-10 calculation via log10(x).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7962" y="4015655"/>
            <a:ext cx="4757737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▸ </a:t>
            </a:r>
            <a:r>
              <a:rPr sz="1700" b="1" i="0" u="none" dirty="0">
                <a:solidFill>
                  <a:srgbClr val="CBD5E1"/>
                </a:solidFill>
                <a:latin typeface="Inter"/>
              </a:rPr>
              <a:t>Natural Logarithm:</a:t>
            </a:r>
            <a:r>
              <a:rPr sz="1700" b="0" i="0" u="none" dirty="0">
                <a:solidFill>
                  <a:srgbClr val="CBD5E1"/>
                </a:solidFill>
                <a:latin typeface="Inter"/>
              </a:rPr>
              <a:t> Euler base calculation via log(x).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7962" y="4617467"/>
            <a:ext cx="4757737" cy="4798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▸ </a:t>
            </a:r>
            <a:r>
              <a:rPr sz="1700" b="1" i="0" u="none" dirty="0">
                <a:solidFill>
                  <a:srgbClr val="CBD5E1"/>
                </a:solidFill>
                <a:latin typeface="Inter"/>
              </a:rPr>
              <a:t>Arbitrary Base Log:</a:t>
            </a:r>
            <a:r>
              <a:rPr sz="1700" b="0" i="0" u="none" dirty="0">
                <a:solidFill>
                  <a:srgbClr val="CBD5E1"/>
                </a:solidFill>
                <a:latin typeface="Inter"/>
              </a:rPr>
              <a:t> Custom implementation using change-of-base formula: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96187" y="5134770"/>
            <a:ext cx="2018868" cy="47632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32509" y="277091"/>
            <a:ext cx="983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2"/>
                </a:solidFill>
              </a:rPr>
              <a:t>07</a:t>
            </a:r>
            <a:endParaRPr lang="en-US" dirty="0">
              <a:solidFill>
                <a:schemeClr val="bg2"/>
              </a:solidFill>
            </a:endParaRPr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90816"/>
            <a:ext cx="12497325" cy="704881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81026" y="970688"/>
            <a:ext cx="11871482" cy="3924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50" b="1" i="0" u="none" dirty="0">
                <a:solidFill>
                  <a:srgbClr val="38BDF8"/>
                </a:solidFill>
                <a:latin typeface="Inter"/>
              </a:rPr>
              <a:t>Numerical Base Conversion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81026" y="963931"/>
            <a:ext cx="11306174" cy="45719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81026" y="1918850"/>
            <a:ext cx="11306174" cy="2315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2000" b="1" i="0" u="none" dirty="0">
                <a:solidFill>
                  <a:srgbClr val="38BDF8"/>
                </a:solidFill>
                <a:latin typeface="Inter SemiBold"/>
              </a:rPr>
              <a:t>Module Lead: Tahmid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1026" y="2733675"/>
            <a:ext cx="11306174" cy="2524125"/>
          </a:xfrm>
          <a:prstGeom prst="roundRect">
            <a:avLst>
              <a:gd name="adj" fmla="val 0"/>
            </a:avLst>
          </a:prstGeom>
          <a:solidFill>
            <a:srgbClr val="1E293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3778796"/>
              </p:ext>
            </p:extLst>
          </p:nvPr>
        </p:nvGraphicFramePr>
        <p:xfrm>
          <a:off x="581026" y="2733675"/>
          <a:ext cx="11306174" cy="252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40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516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50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4825">
                <a:tc>
                  <a:txBody>
                    <a:bodyPr/>
                    <a:lstStyle/>
                    <a:p>
                      <a:pPr algn="l"/>
                      <a:r>
                        <a:rPr sz="1700" b="1" i="0" u="none" dirty="0">
                          <a:solidFill>
                            <a:srgbClr val="38BDF8"/>
                          </a:solidFill>
                          <a:latin typeface="Inter"/>
                        </a:rPr>
                        <a:t>Conversion Type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 u="none" dirty="0">
                          <a:solidFill>
                            <a:srgbClr val="38BDF8"/>
                          </a:solidFill>
                          <a:latin typeface="Inter"/>
                        </a:rPr>
                        <a:t>Buffer / Data Structure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1" i="0" u="none" dirty="0">
                          <a:solidFill>
                            <a:srgbClr val="38BDF8"/>
                          </a:solidFill>
                          <a:latin typeface="Inter"/>
                        </a:rPr>
                        <a:t>Algorithmic Mechanism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4825">
                <a:tc>
                  <a:txBody>
                    <a:bodyPr/>
                    <a:lstStyle/>
                    <a:p>
                      <a:pPr algn="l"/>
                      <a:r>
                        <a:rPr sz="1500" b="1" i="0" u="none" dirty="0">
                          <a:solidFill>
                            <a:srgbClr val="E2E8F0"/>
                          </a:solidFill>
                          <a:latin typeface="Inter"/>
                        </a:rPr>
                        <a:t>Decimal to Binary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E2E8F0"/>
                          </a:solidFill>
                          <a:latin typeface="Inter"/>
                        </a:rPr>
                        <a:t>int digits[40]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 dirty="0">
                          <a:solidFill>
                            <a:srgbClr val="E2E8F0"/>
                          </a:solidFill>
                          <a:latin typeface="Inter"/>
                        </a:rPr>
                        <a:t>Iterative division by 2; remainder array stored and printed in reverse order.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4825">
                <a:tc>
                  <a:txBody>
                    <a:bodyPr/>
                    <a:lstStyle/>
                    <a:p>
                      <a:pPr algn="l"/>
                      <a:r>
                        <a:rPr sz="1500" b="1" i="0" u="none" dirty="0">
                          <a:solidFill>
                            <a:srgbClr val="E2E8F0"/>
                          </a:solidFill>
                          <a:latin typeface="Inter"/>
                        </a:rPr>
                        <a:t>Binary to Decimal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E2E8F0"/>
                          </a:solidFill>
                          <a:latin typeface="Inter"/>
                        </a:rPr>
                        <a:t>char binary[50]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 dirty="0">
                          <a:solidFill>
                            <a:srgbClr val="E2E8F0"/>
                          </a:solidFill>
                          <a:latin typeface="Inter"/>
                        </a:rPr>
                        <a:t>String parsing loop evaluating bit weight: answer = answer * 2 + (digit - '0').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4825">
                <a:tc>
                  <a:txBody>
                    <a:bodyPr/>
                    <a:lstStyle/>
                    <a:p>
                      <a:pPr algn="l"/>
                      <a:r>
                        <a:rPr sz="1500" b="1" i="0" u="none" dirty="0">
                          <a:solidFill>
                            <a:srgbClr val="E2E8F0"/>
                          </a:solidFill>
                          <a:latin typeface="Inter"/>
                        </a:rPr>
                        <a:t>Decimal to Hex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 dirty="0">
                          <a:solidFill>
                            <a:srgbClr val="E2E8F0"/>
                          </a:solidFill>
                          <a:latin typeface="Inter"/>
                        </a:rPr>
                        <a:t>char digits[20]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E2E8F0"/>
                          </a:solidFill>
                          <a:latin typeface="Inter"/>
                        </a:rPr>
                        <a:t>Division by 16; maps remainders 10–15 to uppercase ASCII characters 'A' through 'F'.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4825">
                <a:tc>
                  <a:txBody>
                    <a:bodyPr/>
                    <a:lstStyle/>
                    <a:p>
                      <a:pPr algn="l"/>
                      <a:r>
                        <a:rPr sz="1500" b="1" i="0" u="none" dirty="0">
                          <a:solidFill>
                            <a:srgbClr val="E2E8F0"/>
                          </a:solidFill>
                          <a:latin typeface="Inter"/>
                        </a:rPr>
                        <a:t>Hex to Decimal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 dirty="0">
                          <a:solidFill>
                            <a:srgbClr val="E2E8F0"/>
                          </a:solidFill>
                          <a:latin typeface="Inter"/>
                        </a:rPr>
                        <a:t>char hex[20]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 dirty="0">
                          <a:solidFill>
                            <a:srgbClr val="E2E8F0"/>
                          </a:solidFill>
                          <a:latin typeface="Inter"/>
                        </a:rPr>
                        <a:t>Character parsing loop evaluating 16s powers: answer = answer * 16 + hex_val.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85786" y="3240406"/>
            <a:ext cx="1902363" cy="45719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441673" y="3240406"/>
            <a:ext cx="2349655" cy="45719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733926" y="3240406"/>
            <a:ext cx="7044390" cy="45719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85786" y="3735706"/>
            <a:ext cx="1902363" cy="45719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441673" y="3735706"/>
            <a:ext cx="2349655" cy="45719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733926" y="3735706"/>
            <a:ext cx="7044390" cy="45719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85786" y="4226243"/>
            <a:ext cx="1902363" cy="45719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441673" y="4226243"/>
            <a:ext cx="2349655" cy="45719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733926" y="4226243"/>
            <a:ext cx="7044390" cy="45719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85786" y="4716781"/>
            <a:ext cx="1902363" cy="45719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2441673" y="4716781"/>
            <a:ext cx="2349655" cy="45719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733926" y="4716781"/>
            <a:ext cx="7044390" cy="45719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81026" y="0"/>
            <a:ext cx="9983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2"/>
                </a:solidFill>
              </a:rPr>
              <a:t>08</a:t>
            </a:r>
            <a:endParaRPr lang="en-US" dirty="0">
              <a:solidFill>
                <a:schemeClr val="bg2"/>
              </a:solidFill>
            </a:endParaRPr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025" y="2514600"/>
            <a:ext cx="5348287" cy="329045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2687" y="2514600"/>
            <a:ext cx="5348287" cy="329045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4291" y="3822125"/>
            <a:ext cx="5137633" cy="44127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0" y="3764115"/>
            <a:ext cx="5152786" cy="4684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1025" y="970691"/>
            <a:ext cx="11581447" cy="4095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50" b="1" i="0" u="none" dirty="0">
                <a:solidFill>
                  <a:srgbClr val="38BDF8"/>
                </a:solidFill>
                <a:latin typeface="Inter"/>
              </a:rPr>
              <a:t>Trigonometry &amp; Inverse Engine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81025" y="990600"/>
            <a:ext cx="11029950" cy="1905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81025" y="1699777"/>
            <a:ext cx="11029950" cy="2315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2000" b="1" i="0" u="none" dirty="0">
                <a:solidFill>
                  <a:srgbClr val="38BDF8"/>
                </a:solidFill>
                <a:latin typeface="Inter SemiBold"/>
              </a:rPr>
              <a:t>Module Lead: Rumi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6300" y="2809875"/>
            <a:ext cx="4995624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u="none" dirty="0">
                <a:solidFill>
                  <a:srgbClr val="38BDF8"/>
                </a:solidFill>
                <a:latin typeface="Inter"/>
              </a:rPr>
              <a:t>Standard &amp; Reciprocal Functions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6300" y="3213390"/>
            <a:ext cx="4757737" cy="4667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▸ Accepts input in </a:t>
            </a:r>
            <a:r>
              <a:rPr sz="1700" b="1" i="0" u="none" dirty="0">
                <a:solidFill>
                  <a:srgbClr val="CBD5E1"/>
                </a:solidFill>
                <a:latin typeface="Inter"/>
              </a:rPr>
              <a:t>Degrees</a:t>
            </a:r>
            <a:r>
              <a:rPr sz="1700" b="0" i="0" u="none" dirty="0">
                <a:solidFill>
                  <a:srgbClr val="CBD5E1"/>
                </a:solidFill>
                <a:latin typeface="Inter"/>
              </a:rPr>
              <a:t> and converts to </a:t>
            </a:r>
            <a:r>
              <a:rPr sz="1700" b="1" i="0" u="none" dirty="0">
                <a:solidFill>
                  <a:srgbClr val="CBD5E1"/>
                </a:solidFill>
                <a:latin typeface="Inter"/>
              </a:rPr>
              <a:t>Radians</a:t>
            </a:r>
            <a:r>
              <a:rPr sz="1700" b="0" i="0" u="none" dirty="0">
                <a:solidFill>
                  <a:srgbClr val="CBD5E1"/>
                </a:solidFill>
                <a:latin typeface="Inter"/>
              </a:rPr>
              <a:t> using constant PI = 3.14159265: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6300" y="4404885"/>
            <a:ext cx="4757737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▸ Evaluates sin, cos, tan standard trigonometric ratios.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6300" y="5006699"/>
            <a:ext cx="4757737" cy="476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▸ Derives reciprocal functions: sec(x) = 1/cos(x), cosec(x) = 1/sin(x), cot(x) = 1/tan(x).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7962" y="2809875"/>
            <a:ext cx="4995624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u="none" dirty="0">
                <a:solidFill>
                  <a:srgbClr val="38BDF8"/>
                </a:solidFill>
                <a:latin typeface="Inter"/>
              </a:rPr>
              <a:t>Inverse Trigonometric Ratios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7962" y="3241100"/>
            <a:ext cx="4757737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▸ Computes angular results in degrees from ratio input.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7962" y="4346872"/>
            <a:ext cx="4757737" cy="476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▸ Implements arcsin, arccos, arctan, arcsec, arccosec, and arccot.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7962" y="5006694"/>
            <a:ext cx="4757737" cy="4667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▸ Input domains strictly validated to prevent domain exception errors (e.g., val ∈ [-1, 1]).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221673"/>
            <a:ext cx="9005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2"/>
                </a:solidFill>
              </a:rPr>
              <a:t>09</a:t>
            </a:r>
            <a:endParaRPr lang="en-US" dirty="0">
              <a:solidFill>
                <a:schemeClr val="bg2"/>
              </a:solidFill>
            </a:endParaRPr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025" y="2244436"/>
            <a:ext cx="3517850" cy="399010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7000" y="2244436"/>
            <a:ext cx="3517850" cy="3990109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2975" y="2244436"/>
            <a:ext cx="3517850" cy="399010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81025" y="679745"/>
            <a:ext cx="11581447" cy="4095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50" b="1" i="0" u="none" dirty="0">
                <a:solidFill>
                  <a:srgbClr val="38BDF8"/>
                </a:solidFill>
                <a:latin typeface="Inter"/>
              </a:rPr>
              <a:t>Multi-Unit Conversion Engine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1025" y="990600"/>
            <a:ext cx="11029950" cy="1905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81025" y="1420088"/>
            <a:ext cx="11029950" cy="2315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2000" b="1" i="0" u="none" dirty="0">
                <a:solidFill>
                  <a:srgbClr val="38BDF8"/>
                </a:solidFill>
                <a:latin typeface="Inter SemiBold"/>
              </a:rPr>
              <a:t>Module Lead: Rumi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8675" y="3238500"/>
            <a:ext cx="3173677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u="none" dirty="0">
                <a:solidFill>
                  <a:srgbClr val="F1F5F9"/>
                </a:solidFill>
                <a:latin typeface="Inter"/>
              </a:rPr>
              <a:t>Distance Domain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8675" y="3683580"/>
            <a:ext cx="30225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• Km ↔ Miles (0.621371)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8675" y="4109608"/>
            <a:ext cx="30225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• Meters ↔ Feet (3.28084)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675" y="4563342"/>
            <a:ext cx="30225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• Cm ↔ Inches (0.393701)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8675" y="5058647"/>
            <a:ext cx="30225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• Meters ↔ Yards (1.09361)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675" y="5512386"/>
            <a:ext cx="302255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• Km ↔ Nautical Miles </a:t>
            </a:r>
            <a:r>
              <a:rPr lang="en-US" sz="1700" b="0" i="0" u="none" dirty="0" smtClean="0">
                <a:solidFill>
                  <a:srgbClr val="CBD5E1"/>
                </a:solidFill>
                <a:latin typeface="Inter"/>
              </a:rPr>
              <a:t>			         </a:t>
            </a:r>
            <a:r>
              <a:rPr sz="1700" b="0" i="0" u="none" dirty="0" smtClean="0">
                <a:solidFill>
                  <a:srgbClr val="CBD5E1"/>
                </a:solidFill>
                <a:latin typeface="Inter"/>
              </a:rPr>
              <a:t>(0.539957</a:t>
            </a:r>
            <a:r>
              <a:rPr sz="1700" b="0" i="0" u="none" dirty="0">
                <a:solidFill>
                  <a:srgbClr val="CBD5E1"/>
                </a:solidFill>
                <a:latin typeface="Inter"/>
              </a:rPr>
              <a:t>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4650" y="3238500"/>
            <a:ext cx="3173677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u="none" dirty="0">
                <a:solidFill>
                  <a:srgbClr val="F1F5F9"/>
                </a:solidFill>
                <a:latin typeface="Inter"/>
              </a:rPr>
              <a:t>Mass &amp; Liquid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4650" y="3711288"/>
            <a:ext cx="30225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• Kg ↔ Pounds (2.20462)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4650" y="4095752"/>
            <a:ext cx="30225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• Grams ↔ Ounces (0.035274)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4650" y="4549489"/>
            <a:ext cx="30225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• Liters ↔ Gallons (0.264172)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0625" y="3238500"/>
            <a:ext cx="3173677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u="none" dirty="0">
                <a:solidFill>
                  <a:srgbClr val="F1F5F9"/>
                </a:solidFill>
                <a:latin typeface="Inter"/>
              </a:rPr>
              <a:t>Temperature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40625" y="3655870"/>
            <a:ext cx="30225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• Celsius ↔ Fahrenheit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40625" y="4054190"/>
            <a:ext cx="30225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• Celsius ↔ Kelvin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40625" y="4521783"/>
            <a:ext cx="3022550" cy="6924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• Fahrenheit ↔ Kelvin via intermediate Celsius conversion.</a:t>
            </a:r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8674" y="2476500"/>
            <a:ext cx="581025" cy="581025"/>
          </a:xfrm>
          <a:prstGeom prst="rect">
            <a:avLst/>
          </a:prstGeom>
        </p:spPr>
      </p:pic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84649" y="2476500"/>
            <a:ext cx="581025" cy="581025"/>
          </a:xfrm>
          <a:prstGeom prst="rect">
            <a:avLst/>
          </a:prstGeom>
        </p:spPr>
      </p:pic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40624" y="2503532"/>
            <a:ext cx="553993" cy="553993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81025" y="221673"/>
            <a:ext cx="8286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2"/>
                </a:solidFill>
              </a:rPr>
              <a:t>10</a:t>
            </a:r>
            <a:endParaRPr lang="en-US" dirty="0">
              <a:solidFill>
                <a:schemeClr val="bg2"/>
              </a:solidFill>
            </a:endParaRPr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1845171"/>
            <a:ext cx="3581400" cy="4243982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05300" y="1845171"/>
            <a:ext cx="3581400" cy="4243982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7200" y="1845171"/>
            <a:ext cx="3581400" cy="4243982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2475" y="2873871"/>
            <a:ext cx="3143250" cy="371475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24375" y="2873871"/>
            <a:ext cx="3143250" cy="5715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96275" y="2873871"/>
            <a:ext cx="3143250" cy="571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3400" y="479715"/>
            <a:ext cx="11658600" cy="390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 u="none" dirty="0">
                <a:solidFill>
                  <a:srgbClr val="38BDF8"/>
                </a:solidFill>
                <a:latin typeface="Inter"/>
              </a:rPr>
              <a:t>Combinatorics Engine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" y="904875"/>
            <a:ext cx="11125200" cy="1905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3400" y="1445121"/>
            <a:ext cx="11125200" cy="256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2025"/>
              </a:lnSpc>
            </a:pPr>
            <a:r>
              <a:rPr lang="en-US" sz="2000" b="1" dirty="0">
                <a:solidFill>
                  <a:srgbClr val="38BDF8"/>
                </a:solidFill>
                <a:latin typeface="Inter SemiBold"/>
              </a:rPr>
              <a:t>Module Lead: </a:t>
            </a:r>
            <a:r>
              <a:rPr lang="en-US" sz="2000" b="1" dirty="0" smtClean="0">
                <a:solidFill>
                  <a:srgbClr val="38BDF8"/>
                </a:solidFill>
                <a:latin typeface="Inter SemiBold"/>
              </a:rPr>
              <a:t>Arif</a:t>
            </a:r>
            <a:endParaRPr sz="2000" b="0" i="0" u="none" dirty="0">
              <a:solidFill>
                <a:srgbClr val="CBD5E1"/>
              </a:solidFill>
              <a:latin typeface="Inter SemiBold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52475" y="2550021"/>
            <a:ext cx="3300412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u="none" dirty="0">
                <a:solidFill>
                  <a:srgbClr val="F1F5F9"/>
                </a:solidFill>
                <a:latin typeface="Inter"/>
              </a:rPr>
              <a:t>1. Factorial Engine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2475" y="3321546"/>
            <a:ext cx="3143250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▸ Computes </a:t>
            </a:r>
            <a:r>
              <a:rPr sz="1700" b="0" i="0" u="none" dirty="0" smtClean="0">
                <a:solidFill>
                  <a:srgbClr val="CBD5E1"/>
                </a:solidFill>
                <a:latin typeface="Inter"/>
              </a:rPr>
              <a:t>n! </a:t>
            </a:r>
            <a:r>
              <a:rPr sz="1700" b="0" i="0" u="none" dirty="0">
                <a:solidFill>
                  <a:srgbClr val="CBD5E1"/>
                </a:solidFill>
                <a:latin typeface="Inter"/>
              </a:rPr>
              <a:t>using an iterative multiplication loop.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2475" y="3931146"/>
            <a:ext cx="3143250" cy="256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▸ </a:t>
            </a:r>
            <a:r>
              <a:rPr sz="1700" b="1" i="0" u="none" dirty="0">
                <a:solidFill>
                  <a:srgbClr val="CBD5E1"/>
                </a:solidFill>
                <a:latin typeface="Inter"/>
              </a:rPr>
              <a:t>Formula: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2475" y="4643088"/>
            <a:ext cx="3143250" cy="771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▸ </a:t>
            </a:r>
            <a:r>
              <a:rPr sz="1700" b="1" i="0" u="none" dirty="0">
                <a:solidFill>
                  <a:srgbClr val="CBD5E1"/>
                </a:solidFill>
                <a:latin typeface="Inter"/>
              </a:rPr>
              <a:t>Overflow Handling:</a:t>
            </a:r>
            <a:r>
              <a:rPr sz="1700" b="0" i="0" u="none" dirty="0">
                <a:solidFill>
                  <a:srgbClr val="CBD5E1"/>
                </a:solidFill>
                <a:latin typeface="Inter"/>
              </a:rPr>
              <a:t> Returns double to handle large integers up to </a:t>
            </a:r>
            <a:r>
              <a:rPr sz="1700" b="0" i="0" u="none" dirty="0" smtClean="0">
                <a:solidFill>
                  <a:srgbClr val="CBD5E1"/>
                </a:solidFill>
                <a:latin typeface="Inter"/>
              </a:rPr>
              <a:t>n </a:t>
            </a:r>
            <a:r>
              <a:rPr sz="1700" b="0" i="0" u="none" dirty="0">
                <a:solidFill>
                  <a:srgbClr val="CBD5E1"/>
                </a:solidFill>
                <a:latin typeface="Inter"/>
              </a:rPr>
              <a:t>= </a:t>
            </a:r>
            <a:r>
              <a:rPr lang="en-US" sz="1700" dirty="0" smtClean="0">
                <a:solidFill>
                  <a:srgbClr val="CBD5E1"/>
                </a:solidFill>
                <a:latin typeface="Inter"/>
              </a:rPr>
              <a:t>20</a:t>
            </a:r>
            <a:r>
              <a:rPr sz="1700" b="0" i="0" u="none" dirty="0" smtClean="0">
                <a:solidFill>
                  <a:srgbClr val="CBD5E1"/>
                </a:solidFill>
                <a:latin typeface="Inter"/>
              </a:rPr>
              <a:t>.</a:t>
            </a:r>
            <a:endParaRPr sz="1700" b="0" i="0" u="none" dirty="0">
              <a:solidFill>
                <a:srgbClr val="CBD5E1"/>
              </a:solidFill>
              <a:latin typeface="Inter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524375" y="2550021"/>
            <a:ext cx="3300412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u="none" dirty="0">
                <a:solidFill>
                  <a:srgbClr val="F1F5F9"/>
                </a:solidFill>
                <a:latin typeface="Inter"/>
              </a:rPr>
              <a:t>2. Permutation Engine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4375" y="3521571"/>
            <a:ext cx="3143250" cy="10259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2000" b="0" i="0" u="none" dirty="0">
                <a:solidFill>
                  <a:srgbClr val="CBD5E1"/>
                </a:solidFill>
                <a:latin typeface="Inter"/>
              </a:rPr>
              <a:t>▸ Calculates total ordered arrangements of $r$ objects from $n$ distinct items.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4375" y="4526896"/>
            <a:ext cx="3143250" cy="275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0" i="0" u="none" dirty="0">
                <a:solidFill>
                  <a:srgbClr val="CBD5E1"/>
                </a:solidFill>
                <a:latin typeface="Inter"/>
              </a:rPr>
              <a:t>▸ </a:t>
            </a:r>
            <a:r>
              <a:rPr sz="1350" b="1" i="0" u="none" dirty="0">
                <a:solidFill>
                  <a:srgbClr val="CBD5E1"/>
                </a:solidFill>
                <a:latin typeface="Inter"/>
              </a:rPr>
              <a:t>Formula: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4375" y="5077733"/>
            <a:ext cx="3143250" cy="771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▸ </a:t>
            </a:r>
            <a:r>
              <a:rPr sz="1700" b="1" i="0" u="none" dirty="0">
                <a:solidFill>
                  <a:srgbClr val="CBD5E1"/>
                </a:solidFill>
                <a:latin typeface="Inter"/>
              </a:rPr>
              <a:t>Domain Check:</a:t>
            </a:r>
            <a:r>
              <a:rPr sz="1700" b="0" i="0" u="none" dirty="0">
                <a:solidFill>
                  <a:srgbClr val="CBD5E1"/>
                </a:solidFill>
                <a:latin typeface="Inter"/>
              </a:rPr>
              <a:t> Validates </a:t>
            </a:r>
            <a:r>
              <a:rPr sz="1700" b="0" i="0" u="none" dirty="0" smtClean="0">
                <a:solidFill>
                  <a:srgbClr val="CBD5E1"/>
                </a:solidFill>
                <a:latin typeface="Inter"/>
              </a:rPr>
              <a:t>n</a:t>
            </a:r>
            <a:r>
              <a:rPr lang="en-US" sz="1700" b="0" i="0" u="none" dirty="0" smtClean="0">
                <a:solidFill>
                  <a:srgbClr val="CBD5E1"/>
                </a:solidFill>
                <a:latin typeface="Inter"/>
              </a:rPr>
              <a:t>P</a:t>
            </a:r>
            <a:r>
              <a:rPr sz="1700" b="0" i="0" u="none" dirty="0" smtClean="0">
                <a:solidFill>
                  <a:srgbClr val="CBD5E1"/>
                </a:solidFill>
                <a:latin typeface="Inter"/>
              </a:rPr>
              <a:t>0 </a:t>
            </a:r>
            <a:r>
              <a:rPr sz="1700" b="0" i="0" u="none" dirty="0">
                <a:solidFill>
                  <a:srgbClr val="CBD5E1"/>
                </a:solidFill>
                <a:latin typeface="Inter"/>
              </a:rPr>
              <a:t>before executing factorial ratios.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6275" y="2550021"/>
            <a:ext cx="3300412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u="none" dirty="0">
                <a:solidFill>
                  <a:srgbClr val="F1F5F9"/>
                </a:solidFill>
                <a:latin typeface="Inter"/>
              </a:rPr>
              <a:t>3. Combination Engine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6275" y="3521571"/>
            <a:ext cx="3143250" cy="771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▸ Computes unique subset selections where selection order does not matter.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96275" y="4388346"/>
            <a:ext cx="3143250" cy="275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0" i="0" u="none">
                <a:solidFill>
                  <a:srgbClr val="CBD5E1"/>
                </a:solidFill>
                <a:latin typeface="Inter"/>
              </a:rPr>
              <a:t>▸ </a:t>
            </a:r>
            <a:r>
              <a:rPr sz="1350" b="1" i="0" u="none">
                <a:solidFill>
                  <a:srgbClr val="CBD5E1"/>
                </a:solidFill>
                <a:latin typeface="Inter"/>
              </a:rPr>
              <a:t>Formula: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6275" y="4897623"/>
            <a:ext cx="3143250" cy="771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▸ </a:t>
            </a:r>
            <a:r>
              <a:rPr sz="1700" b="1" i="0" u="none" dirty="0">
                <a:solidFill>
                  <a:srgbClr val="CBD5E1"/>
                </a:solidFill>
                <a:latin typeface="Inter"/>
              </a:rPr>
              <a:t>Implementation:</a:t>
            </a:r>
            <a:r>
              <a:rPr sz="1700" b="0" i="0" u="none" dirty="0">
                <a:solidFill>
                  <a:srgbClr val="CBD5E1"/>
                </a:solidFill>
                <a:latin typeface="Inter"/>
              </a:rPr>
              <a:t> Leverages permutation(n, r) divided by factorial(r).</a:t>
            </a:r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2475" y="2092821"/>
            <a:ext cx="228600" cy="304800"/>
          </a:xfrm>
          <a:prstGeom prst="rect">
            <a:avLst/>
          </a:prstGeom>
        </p:spPr>
      </p:pic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105024" y="3931146"/>
            <a:ext cx="1002208" cy="367307"/>
          </a:xfrm>
          <a:prstGeom prst="rect">
            <a:avLst/>
          </a:prstGeom>
        </p:spPr>
      </p:pic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24375" y="2092821"/>
            <a:ext cx="342900" cy="304800"/>
          </a:xfrm>
          <a:prstGeom prst="rect">
            <a:avLst/>
          </a:prstGeom>
        </p:spPr>
      </p:pic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641401" y="4551139"/>
            <a:ext cx="1846659" cy="237380"/>
          </a:xfrm>
          <a:prstGeom prst="rect">
            <a:avLst/>
          </a:prstGeom>
        </p:spPr>
      </p:pic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296275" y="2092821"/>
            <a:ext cx="342900" cy="304800"/>
          </a:xfrm>
          <a:prstGeom prst="rect">
            <a:avLst/>
          </a:prstGeom>
        </p:spPr>
      </p:pic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191625" y="4426446"/>
            <a:ext cx="2067817" cy="23738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318655" y="162099"/>
            <a:ext cx="8451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11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79990403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2190154"/>
            <a:ext cx="5419725" cy="397511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8875" y="2190154"/>
            <a:ext cx="5419725" cy="3975119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050" y="2761654"/>
            <a:ext cx="4924425" cy="37147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33400" y="493570"/>
            <a:ext cx="11658600" cy="390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 u="none" dirty="0">
                <a:solidFill>
                  <a:srgbClr val="38BDF8"/>
                </a:solidFill>
                <a:latin typeface="Inter"/>
              </a:rPr>
              <a:t>Polynomial Root Solver Engine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904875"/>
            <a:ext cx="11125200" cy="1905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33400" y="1790104"/>
            <a:ext cx="11125200" cy="256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2025"/>
              </a:lnSpc>
            </a:pPr>
            <a:r>
              <a:rPr lang="en-US" sz="2000" b="1" dirty="0">
                <a:solidFill>
                  <a:srgbClr val="38BDF8"/>
                </a:solidFill>
                <a:latin typeface="Inter SemiBold"/>
              </a:rPr>
              <a:t>Module Lead: Arif</a:t>
            </a:r>
            <a:endParaRPr sz="2000" b="0" i="0" u="none" dirty="0">
              <a:solidFill>
                <a:srgbClr val="CBD5E1"/>
              </a:solidFill>
              <a:latin typeface="Inter Semi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81050" y="2437804"/>
            <a:ext cx="5170646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u="none" dirty="0">
                <a:solidFill>
                  <a:srgbClr val="38BDF8"/>
                </a:solidFill>
                <a:latin typeface="Inter"/>
              </a:rPr>
              <a:t>Mathematical Foundation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050" y="3209329"/>
            <a:ext cx="4924425" cy="5129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▸ Solves 2nd degree quadratic equations in standard form: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050" y="3914179"/>
            <a:ext cx="4924425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▸ Evaluates roots using quadratic formula with discriminant $\Delta$: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050" y="5247147"/>
            <a:ext cx="4924425" cy="256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▸ </a:t>
            </a:r>
            <a:r>
              <a:rPr sz="1700" b="1" i="0" u="none" dirty="0">
                <a:solidFill>
                  <a:srgbClr val="CBD5E1"/>
                </a:solidFill>
                <a:latin typeface="Inter"/>
              </a:rPr>
              <a:t>Discriminant:</a:t>
            </a:r>
            <a:r>
              <a:rPr sz="1700" b="0" i="0" u="none" dirty="0">
                <a:solidFill>
                  <a:srgbClr val="CBD5E1"/>
                </a:solidFill>
                <a:latin typeface="Inter"/>
              </a:rPr>
              <a:t> determines root characteristics.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6525" y="2437804"/>
            <a:ext cx="5170646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u="none" dirty="0">
                <a:solidFill>
                  <a:srgbClr val="38BDF8"/>
                </a:solidFill>
                <a:latin typeface="Inter"/>
              </a:rPr>
              <a:t>Algorithmic Decision Tree in 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6525" y="2761654"/>
            <a:ext cx="4924425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▸ </a:t>
            </a:r>
            <a:r>
              <a:rPr sz="1700" b="1" i="0" u="none" dirty="0">
                <a:solidFill>
                  <a:srgbClr val="CBD5E1"/>
                </a:solidFill>
                <a:latin typeface="Inter"/>
              </a:rPr>
              <a:t>Edge Case ($a = 0$):</a:t>
            </a:r>
            <a:r>
              <a:rPr sz="1700" b="0" i="0" u="none" dirty="0">
                <a:solidFill>
                  <a:srgbClr val="CBD5E1"/>
                </a:solidFill>
                <a:latin typeface="Inter"/>
              </a:rPr>
              <a:t> Reverts to 1st degree linear equation $b x + c = 0 \implies x = -c/b$.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6525" y="3371254"/>
            <a:ext cx="4924425" cy="771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▸ </a:t>
            </a:r>
            <a:r>
              <a:rPr sz="1700" b="1" i="0" u="none" dirty="0">
                <a:solidFill>
                  <a:srgbClr val="CBD5E1"/>
                </a:solidFill>
                <a:latin typeface="Inter"/>
              </a:rPr>
              <a:t>Real &amp; Distinct Roots ($D &gt; 0$):</a:t>
            </a:r>
            <a:r>
              <a:rPr sz="1700" b="0" i="0" u="none" dirty="0">
                <a:solidFill>
                  <a:srgbClr val="CBD5E1"/>
                </a:solidFill>
                <a:latin typeface="Inter"/>
              </a:rPr>
              <a:t> </a:t>
            </a:r>
            <a:r>
              <a:rPr sz="1700" dirty="0"/>
              <a:t>
</a:t>
            </a:r>
            <a:r>
              <a:rPr sz="1700" b="0" i="0" u="none" dirty="0">
                <a:solidFill>
                  <a:srgbClr val="38BDF8"/>
                </a:solidFill>
                <a:latin typeface="Inter"/>
              </a:rPr>
              <a:t>x1 = (-b + sqrt(D)) / (2*a)</a:t>
            </a:r>
            <a:r>
              <a:rPr sz="1700" b="0" i="0" u="none" dirty="0">
                <a:solidFill>
                  <a:srgbClr val="CBD5E1"/>
                </a:solidFill>
                <a:latin typeface="Inter"/>
              </a:rPr>
              <a:t> </a:t>
            </a:r>
            <a:r>
              <a:rPr sz="1700" dirty="0"/>
              <a:t>
</a:t>
            </a:r>
            <a:r>
              <a:rPr sz="1700" b="0" i="0" u="none" dirty="0">
                <a:solidFill>
                  <a:srgbClr val="38BDF8"/>
                </a:solidFill>
                <a:latin typeface="Inter"/>
              </a:rPr>
              <a:t>x2 = (-b - sqrt(D)) / (2*a)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6525" y="4321159"/>
            <a:ext cx="4924425" cy="5129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▸ </a:t>
            </a:r>
            <a:r>
              <a:rPr sz="1700" b="1" i="0" u="none" dirty="0">
                <a:solidFill>
                  <a:srgbClr val="CBD5E1"/>
                </a:solidFill>
                <a:latin typeface="Inter"/>
              </a:rPr>
              <a:t>Real &amp; Equal Roots ($D = 0$):</a:t>
            </a:r>
            <a:r>
              <a:rPr sz="1700" b="0" i="0" u="none" dirty="0">
                <a:solidFill>
                  <a:srgbClr val="CBD5E1"/>
                </a:solidFill>
                <a:latin typeface="Inter"/>
              </a:rPr>
              <a:t> Single root $x = -b / (2*a)$.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6525" y="5006101"/>
            <a:ext cx="4924425" cy="7694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▸ </a:t>
            </a:r>
            <a:r>
              <a:rPr sz="1700" b="1" i="0" u="none" dirty="0">
                <a:solidFill>
                  <a:srgbClr val="CBD5E1"/>
                </a:solidFill>
                <a:latin typeface="Inter"/>
              </a:rPr>
              <a:t>Complex Conjugate Roots ($D &lt; 0$):</a:t>
            </a:r>
            <a:r>
              <a:rPr sz="1700" b="0" i="0" u="none" dirty="0">
                <a:solidFill>
                  <a:srgbClr val="CBD5E1"/>
                </a:solidFill>
                <a:latin typeface="Inter"/>
              </a:rPr>
              <a:t> Solves imaginary parts using sqrt(-D)/(2*a); displays in $a \pm bi$ format.</a:t>
            </a: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76512" y="3576339"/>
            <a:ext cx="1333500" cy="185439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66925" y="4693683"/>
            <a:ext cx="1028700" cy="185439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304800" y="193964"/>
            <a:ext cx="476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12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58863933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05276" y="1817103"/>
            <a:ext cx="11581447" cy="733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800" b="1" i="0" u="none" dirty="0">
                <a:solidFill>
                  <a:srgbClr val="F8FAFC"/>
                </a:solidFill>
                <a:latin typeface="Inter"/>
              </a:rPr>
              <a:t>Questions &amp; 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1025" y="3303012"/>
            <a:ext cx="11029950" cy="2930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75"/>
              </a:lnSpc>
            </a:pPr>
            <a:r>
              <a:rPr b="0" i="0" u="none" dirty="0">
                <a:solidFill>
                  <a:srgbClr val="38BDF8"/>
                </a:solidFill>
                <a:latin typeface="Inter"/>
              </a:rPr>
              <a:t>Scientific Calculator in C — Project Presentation Completed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1025" y="4037308"/>
            <a:ext cx="11029950" cy="2315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800"/>
              </a:lnSpc>
            </a:pPr>
            <a:r>
              <a:rPr sz="2000" b="0" i="0" u="none" dirty="0">
                <a:solidFill>
                  <a:srgbClr val="94A3B8"/>
                </a:solidFill>
                <a:latin typeface="Inter"/>
              </a:rPr>
              <a:t>CSE 115 | Section 05 | Group 13 | Department of ECE | North South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1025" y="4716179"/>
            <a:ext cx="11029950" cy="3231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100" b="0" i="0" u="none" dirty="0">
                <a:solidFill>
                  <a:srgbClr val="94A3B8"/>
                </a:solidFill>
                <a:latin typeface="Fira Code"/>
              </a:rPr>
              <a:t>Prithu  |  Tahmid  |  Rumi  |  Arif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35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641162" y="2052931"/>
            <a:ext cx="4909677" cy="2585323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dirty="0" smtClean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Thank You </a:t>
            </a:r>
          </a:p>
          <a:p>
            <a:pPr algn="ctr"/>
            <a:r>
              <a:rPr lang="en-US" sz="5400" dirty="0" smtClean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Until Next Time</a:t>
            </a:r>
            <a:br>
              <a:rPr lang="en-US" sz="5400" dirty="0" smtClean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</a:br>
            <a:r>
              <a:rPr lang="en-US" sz="5400" dirty="0" smtClean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Fellow Engineers</a:t>
            </a:r>
            <a:endParaRPr lang="en-US" sz="5400" dirty="0">
              <a:ln w="0"/>
              <a:gradFill>
                <a:gsLst>
                  <a:gs pos="0">
                    <a:schemeClr val="accent5">
                      <a:lumMod val="50000"/>
                    </a:schemeClr>
                  </a:gs>
                  <a:gs pos="50000">
                    <a:schemeClr val="accent5"/>
                  </a:gs>
                  <a:gs pos="100000">
                    <a:schemeClr val="accent5">
                      <a:lumMod val="60000"/>
                      <a:lumOff val="40000"/>
                    </a:schemeClr>
                  </a:gs>
                </a:gsLst>
                <a:lin ang="5400000"/>
              </a:gradFill>
              <a:effectLst>
                <a:reflection blurRad="6350" stA="53000" endA="300" endPos="35500" dir="5400000" sy="-90000" algn="bl" rotWithShape="0"/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3935926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400">
        <p14:honeycomb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81025" y="485775"/>
            <a:ext cx="11581447" cy="4095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50" b="1" i="0" u="none">
                <a:solidFill>
                  <a:srgbClr val="38BDF8"/>
                </a:solidFill>
                <a:latin typeface="Inter"/>
              </a:rPr>
              <a:t>Image Sources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81025" y="990600"/>
            <a:ext cx="11029950" cy="1905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025" y="3571875"/>
            <a:ext cx="857250" cy="4762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76400" y="3579018"/>
            <a:ext cx="9934575" cy="1857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975" b="0" i="0" u="none">
                <a:solidFill>
                  <a:srgbClr val="CBD5E1"/>
                </a:solidFill>
                <a:latin typeface="Inter"/>
              </a:rPr>
              <a:t>https://d2o2utebsixu4k.cloudfront.net/image-8d280a76937243ac93066c0ab218ae98.png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76400" y="3812381"/>
            <a:ext cx="9934575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CBD5E1"/>
                </a:solidFill>
                <a:latin typeface="Inter"/>
              </a:rPr>
              <a:t>Source: </a:t>
            </a:r>
            <a:r>
              <a:rPr sz="1200" b="0" i="0" u="none">
                <a:solidFill>
                  <a:srgbClr val="4F46E5"/>
                </a:solidFill>
                <a:latin typeface="Inter"/>
              </a:rPr>
              <a:t>www.upgrad.com</a:t>
            </a:r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240</TotalTime>
  <Words>1165</Words>
  <Application>Microsoft Office PowerPoint</Application>
  <PresentationFormat>Widescreen</PresentationFormat>
  <Paragraphs>201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Arial</vt:lpstr>
      <vt:lpstr>Calibri</vt:lpstr>
      <vt:lpstr>Fira Code</vt:lpstr>
      <vt:lpstr>Fira Code SemiBold</vt:lpstr>
      <vt:lpstr>Inter</vt:lpstr>
      <vt:lpstr>Inter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Prithu</dc:creator>
  <cp:keywords/>
  <dc:description>generated using python-pptx</dc:description>
  <cp:lastModifiedBy>Prithu</cp:lastModifiedBy>
  <cp:revision>25</cp:revision>
  <dcterms:created xsi:type="dcterms:W3CDTF">2013-01-27T09:14:16Z</dcterms:created>
  <dcterms:modified xsi:type="dcterms:W3CDTF">2026-08-20T16:11:13Z</dcterms:modified>
  <cp:category/>
</cp:coreProperties>
</file>